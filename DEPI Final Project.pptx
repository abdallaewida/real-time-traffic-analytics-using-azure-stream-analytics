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67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</p:sldIdLst>
  <p:sldSz cx="12192000" cy="6858000"/>
  <p:notesSz cx="6858000" cy="9144000"/>
  <p:embeddedFontLst>
    <p:embeddedFont>
      <p:font typeface="Lato" panose="020F0502020204030203" pitchFamily="34" charset="0"/>
      <p:regular r:id="rId13"/>
      <p:bold r:id="rId14"/>
      <p:italic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jOmBtk5DbvnkierGKxpb4ZbKw0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1" name="Google Shape;5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8"/>
          <p:cNvSpPr/>
          <p:nvPr/>
        </p:nvSpPr>
        <p:spPr>
          <a:xfrm>
            <a:off x="10933155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3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3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3" name="Google Shape;13;p1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3"/>
          <p:cNvSpPr/>
          <p:nvPr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Google Shape;1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png"/><Relationship Id="rId7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8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</a:t>
            </a:r>
            <a:r>
              <a:rPr lang="ar-SA" dirty="0"/>
              <a:t>1</a:t>
            </a:r>
            <a:r>
              <a:rPr lang="en-US" dirty="0"/>
              <a:t> / </a:t>
            </a:r>
            <a:r>
              <a:rPr lang="ar-SA" dirty="0"/>
              <a:t>30</a:t>
            </a:r>
            <a:r>
              <a:rPr lang="en-US" dirty="0"/>
              <a:t> / 2</a:t>
            </a:r>
            <a:r>
              <a:rPr lang="ar-SA" dirty="0"/>
              <a:t>5</a:t>
            </a:r>
            <a:endParaRPr dirty="0"/>
          </a:p>
        </p:txBody>
      </p:sp>
      <p:sp>
        <p:nvSpPr>
          <p:cNvPr id="225" name="Google Shape;22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3" name="Google Shape;85;p13" descr="image.png">
            <a:extLst>
              <a:ext uri="{FF2B5EF4-FFF2-40B4-BE49-F238E27FC236}">
                <a16:creationId xmlns:a16="http://schemas.microsoft.com/office/drawing/2014/main" id="{3E9BE5C0-2258-B7B5-D9A2-5EE48148DFA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4912" y="1293614"/>
            <a:ext cx="9782175" cy="427077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86;p13">
            <a:extLst>
              <a:ext uri="{FF2B5EF4-FFF2-40B4-BE49-F238E27FC236}">
                <a16:creationId xmlns:a16="http://schemas.microsoft.com/office/drawing/2014/main" id="{948325DC-3FA9-FC8A-829E-29A0284EA4CE}"/>
              </a:ext>
            </a:extLst>
          </p:cNvPr>
          <p:cNvSpPr txBox="1"/>
          <p:nvPr/>
        </p:nvSpPr>
        <p:spPr>
          <a:xfrm>
            <a:off x="1580435" y="1884164"/>
            <a:ext cx="9031128" cy="731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47954"/>
                </a:solidFill>
                <a:latin typeface="Poppins"/>
                <a:ea typeface="Poppins"/>
                <a:cs typeface="Poppins"/>
                <a:sym typeface="Poppins"/>
              </a:rPr>
              <a:t>Real-Time Traffic Analytics</a:t>
            </a:r>
            <a:endParaRPr/>
          </a:p>
        </p:txBody>
      </p:sp>
      <p:sp>
        <p:nvSpPr>
          <p:cNvPr id="5" name="Google Shape;87;p13">
            <a:extLst>
              <a:ext uri="{FF2B5EF4-FFF2-40B4-BE49-F238E27FC236}">
                <a16:creationId xmlns:a16="http://schemas.microsoft.com/office/drawing/2014/main" id="{B44F879A-A4F6-884C-5B8E-9119D44EA86B}"/>
              </a:ext>
            </a:extLst>
          </p:cNvPr>
          <p:cNvSpPr txBox="1"/>
          <p:nvPr/>
        </p:nvSpPr>
        <p:spPr>
          <a:xfrm>
            <a:off x="1795462" y="2710904"/>
            <a:ext cx="86010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6EA8"/>
                </a:solidFill>
                <a:latin typeface="Lato"/>
                <a:ea typeface="Lato"/>
                <a:cs typeface="Lato"/>
                <a:sym typeface="Lato"/>
              </a:rPr>
              <a:t>Using Azure Stream Analytics</a:t>
            </a:r>
            <a:endParaRPr/>
          </a:p>
        </p:txBody>
      </p:sp>
      <p:sp>
        <p:nvSpPr>
          <p:cNvPr id="6" name="Google Shape;88;p13">
            <a:extLst>
              <a:ext uri="{FF2B5EF4-FFF2-40B4-BE49-F238E27FC236}">
                <a16:creationId xmlns:a16="http://schemas.microsoft.com/office/drawing/2014/main" id="{060AA112-C550-D898-1975-6A99E7B9C998}"/>
              </a:ext>
            </a:extLst>
          </p:cNvPr>
          <p:cNvSpPr/>
          <p:nvPr/>
        </p:nvSpPr>
        <p:spPr>
          <a:xfrm>
            <a:off x="5619750" y="3457575"/>
            <a:ext cx="952500" cy="38100"/>
          </a:xfrm>
          <a:prstGeom prst="roundRect">
            <a:avLst>
              <a:gd name="adj" fmla="val 16667"/>
            </a:avLst>
          </a:prstGeom>
          <a:solidFill>
            <a:srgbClr val="D7B1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89;p13">
            <a:extLst>
              <a:ext uri="{FF2B5EF4-FFF2-40B4-BE49-F238E27FC236}">
                <a16:creationId xmlns:a16="http://schemas.microsoft.com/office/drawing/2014/main" id="{C76C3CA8-F244-F5EC-A8C3-C0BA1CD6A9FE}"/>
              </a:ext>
            </a:extLst>
          </p:cNvPr>
          <p:cNvSpPr txBox="1"/>
          <p:nvPr/>
        </p:nvSpPr>
        <p:spPr>
          <a:xfrm>
            <a:off x="1795462" y="3876675"/>
            <a:ext cx="86010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47954"/>
                </a:solidFill>
                <a:latin typeface="Lato"/>
                <a:ea typeface="Lato"/>
                <a:cs typeface="Lato"/>
                <a:sym typeface="Lato"/>
              </a:rPr>
              <a:t>Presenter: Kirolos </a:t>
            </a:r>
            <a:r>
              <a:rPr lang="en-US" sz="1800" b="1" i="0" u="none" strike="noStrike" cap="none" dirty="0" err="1">
                <a:solidFill>
                  <a:srgbClr val="047954"/>
                </a:solidFill>
                <a:latin typeface="Lato"/>
                <a:ea typeface="Lato"/>
                <a:cs typeface="Lato"/>
                <a:sym typeface="Lato"/>
              </a:rPr>
              <a:t>Gergies</a:t>
            </a:r>
            <a:endParaRPr dirty="0"/>
          </a:p>
        </p:txBody>
      </p:sp>
      <p:sp>
        <p:nvSpPr>
          <p:cNvPr id="8" name="Google Shape;90;p13">
            <a:extLst>
              <a:ext uri="{FF2B5EF4-FFF2-40B4-BE49-F238E27FC236}">
                <a16:creationId xmlns:a16="http://schemas.microsoft.com/office/drawing/2014/main" id="{A49195F1-56D0-D4E5-617F-52398AFB8AAB}"/>
              </a:ext>
            </a:extLst>
          </p:cNvPr>
          <p:cNvSpPr txBox="1"/>
          <p:nvPr/>
        </p:nvSpPr>
        <p:spPr>
          <a:xfrm>
            <a:off x="1795462" y="4528095"/>
            <a:ext cx="86010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888888"/>
                </a:solidFill>
                <a:latin typeface="Lato"/>
                <a:ea typeface="Lato"/>
                <a:sym typeface="Lato"/>
              </a:rPr>
              <a:t>11 / 30 / 25</a:t>
            </a:r>
            <a:endParaRPr dirty="0"/>
          </a:p>
        </p:txBody>
      </p:sp>
      <p:pic>
        <p:nvPicPr>
          <p:cNvPr id="9" name="Google Shape;110;p1">
            <a:extLst>
              <a:ext uri="{FF2B5EF4-FFF2-40B4-BE49-F238E27FC236}">
                <a16:creationId xmlns:a16="http://schemas.microsoft.com/office/drawing/2014/main" id="{A4FFB2F6-9F16-3666-BC9F-F42F0A375A18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9A9D4-7681-AF21-AF18-F03BF28179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pic>
        <p:nvPicPr>
          <p:cNvPr id="6" name="Google Shape;96;p14" descr="image.png">
            <a:extLst>
              <a:ext uri="{FF2B5EF4-FFF2-40B4-BE49-F238E27FC236}">
                <a16:creationId xmlns:a16="http://schemas.microsoft.com/office/drawing/2014/main" id="{CA3A9D76-ED10-BDCD-346D-1898A5A1A07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76275" y="2362200"/>
            <a:ext cx="3422600" cy="332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7;p14" descr="image.png">
            <a:extLst>
              <a:ext uri="{FF2B5EF4-FFF2-40B4-BE49-F238E27FC236}">
                <a16:creationId xmlns:a16="http://schemas.microsoft.com/office/drawing/2014/main" id="{9975E7D8-2C4E-3438-46DC-2634DC03CD8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4625" y="2362200"/>
            <a:ext cx="3422600" cy="332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98;p14" descr="image.png">
            <a:extLst>
              <a:ext uri="{FF2B5EF4-FFF2-40B4-BE49-F238E27FC236}">
                <a16:creationId xmlns:a16="http://schemas.microsoft.com/office/drawing/2014/main" id="{4CADFBCA-33A7-7823-0771-44CC837EB0F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2975" y="2362200"/>
            <a:ext cx="3422600" cy="33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9;p14">
            <a:extLst>
              <a:ext uri="{FF2B5EF4-FFF2-40B4-BE49-F238E27FC236}">
                <a16:creationId xmlns:a16="http://schemas.microsoft.com/office/drawing/2014/main" id="{94990F03-F45B-FA31-F601-F66EA6447D32}"/>
              </a:ext>
            </a:extLst>
          </p:cNvPr>
          <p:cNvSpPr txBox="1"/>
          <p:nvPr/>
        </p:nvSpPr>
        <p:spPr>
          <a:xfrm>
            <a:off x="890747" y="3429000"/>
            <a:ext cx="2993655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336EA8"/>
                </a:solidFill>
                <a:latin typeface="Poppins"/>
                <a:ea typeface="Poppins"/>
                <a:cs typeface="Poppins"/>
                <a:sym typeface="Poppins"/>
              </a:rPr>
              <a:t>The Problem</a:t>
            </a:r>
            <a:endParaRPr/>
          </a:p>
        </p:txBody>
      </p:sp>
      <p:sp>
        <p:nvSpPr>
          <p:cNvPr id="10" name="Google Shape;100;p14">
            <a:extLst>
              <a:ext uri="{FF2B5EF4-FFF2-40B4-BE49-F238E27FC236}">
                <a16:creationId xmlns:a16="http://schemas.microsoft.com/office/drawing/2014/main" id="{631A13A1-98D4-A701-9F00-0CBE677E2F98}"/>
              </a:ext>
            </a:extLst>
          </p:cNvPr>
          <p:cNvSpPr txBox="1"/>
          <p:nvPr/>
        </p:nvSpPr>
        <p:spPr>
          <a:xfrm>
            <a:off x="962025" y="3990975"/>
            <a:ext cx="28511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Traffic congestion in Greater Cairo leads to significant delays and lack of real-time visibility for authorities.</a:t>
            </a:r>
            <a:endParaRPr/>
          </a:p>
        </p:txBody>
      </p:sp>
      <p:sp>
        <p:nvSpPr>
          <p:cNvPr id="11" name="Google Shape;101;p14">
            <a:extLst>
              <a:ext uri="{FF2B5EF4-FFF2-40B4-BE49-F238E27FC236}">
                <a16:creationId xmlns:a16="http://schemas.microsoft.com/office/drawing/2014/main" id="{B181B63D-F958-0675-15C6-6DB9DE52F69B}"/>
              </a:ext>
            </a:extLst>
          </p:cNvPr>
          <p:cNvSpPr txBox="1"/>
          <p:nvPr/>
        </p:nvSpPr>
        <p:spPr>
          <a:xfrm>
            <a:off x="4599097" y="3429000"/>
            <a:ext cx="2993655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336EA8"/>
                </a:solidFill>
                <a:latin typeface="Poppins"/>
                <a:ea typeface="Poppins"/>
                <a:cs typeface="Poppins"/>
                <a:sym typeface="Poppins"/>
              </a:rPr>
              <a:t>The Solution</a:t>
            </a:r>
            <a:endParaRPr/>
          </a:p>
        </p:txBody>
      </p:sp>
      <p:sp>
        <p:nvSpPr>
          <p:cNvPr id="12" name="Google Shape;102;p14">
            <a:extLst>
              <a:ext uri="{FF2B5EF4-FFF2-40B4-BE49-F238E27FC236}">
                <a16:creationId xmlns:a16="http://schemas.microsoft.com/office/drawing/2014/main" id="{FCE7DB05-869A-B678-A143-BF61D25D910E}"/>
              </a:ext>
            </a:extLst>
          </p:cNvPr>
          <p:cNvSpPr txBox="1"/>
          <p:nvPr/>
        </p:nvSpPr>
        <p:spPr>
          <a:xfrm>
            <a:off x="4670375" y="3990975"/>
            <a:ext cx="28511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An end-to-end cloud system utilizing simulated streaming data to analyze traffic flow, speed, and anomalies in real-time.</a:t>
            </a:r>
            <a:endParaRPr dirty="0"/>
          </a:p>
        </p:txBody>
      </p:sp>
      <p:sp>
        <p:nvSpPr>
          <p:cNvPr id="13" name="Google Shape;103;p14">
            <a:extLst>
              <a:ext uri="{FF2B5EF4-FFF2-40B4-BE49-F238E27FC236}">
                <a16:creationId xmlns:a16="http://schemas.microsoft.com/office/drawing/2014/main" id="{C31E19C5-390D-5416-560C-22FB0F70662C}"/>
              </a:ext>
            </a:extLst>
          </p:cNvPr>
          <p:cNvSpPr txBox="1"/>
          <p:nvPr/>
        </p:nvSpPr>
        <p:spPr>
          <a:xfrm>
            <a:off x="8307448" y="3429000"/>
            <a:ext cx="2993655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336EA8"/>
                </a:solidFill>
                <a:latin typeface="Poppins"/>
                <a:ea typeface="Poppins"/>
                <a:cs typeface="Poppins"/>
                <a:sym typeface="Poppins"/>
              </a:rPr>
              <a:t>Value Proposition</a:t>
            </a:r>
            <a:endParaRPr/>
          </a:p>
        </p:txBody>
      </p:sp>
      <p:sp>
        <p:nvSpPr>
          <p:cNvPr id="14" name="Google Shape;104;p14">
            <a:extLst>
              <a:ext uri="{FF2B5EF4-FFF2-40B4-BE49-F238E27FC236}">
                <a16:creationId xmlns:a16="http://schemas.microsoft.com/office/drawing/2014/main" id="{D8363F56-3294-AB04-61D2-478B4BFF0819}"/>
              </a:ext>
            </a:extLst>
          </p:cNvPr>
          <p:cNvSpPr txBox="1"/>
          <p:nvPr/>
        </p:nvSpPr>
        <p:spPr>
          <a:xfrm>
            <a:off x="8378725" y="3990975"/>
            <a:ext cx="28511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Provides actionable insights and instant alerts, enabling data-driven traffic management and faster incident response.</a:t>
            </a:r>
            <a:endParaRPr/>
          </a:p>
        </p:txBody>
      </p:sp>
      <p:pic>
        <p:nvPicPr>
          <p:cNvPr id="15" name="Google Shape;105;p14" descr="image.png">
            <a:extLst>
              <a:ext uri="{FF2B5EF4-FFF2-40B4-BE49-F238E27FC236}">
                <a16:creationId xmlns:a16="http://schemas.microsoft.com/office/drawing/2014/main" id="{0BEF1D94-5564-050B-B572-571F295561B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58900" y="27432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06;p14" descr="image.png">
            <a:extLst>
              <a:ext uri="{FF2B5EF4-FFF2-40B4-BE49-F238E27FC236}">
                <a16:creationId xmlns:a16="http://schemas.microsoft.com/office/drawing/2014/main" id="{74C48F49-222A-6AD7-026C-2BF4B28FED7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24401" y="2743200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07;p14" descr="image.png">
            <a:extLst>
              <a:ext uri="{FF2B5EF4-FFF2-40B4-BE49-F238E27FC236}">
                <a16:creationId xmlns:a16="http://schemas.microsoft.com/office/drawing/2014/main" id="{367219AF-0D0C-610D-463A-B951825C959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47026" y="2743200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08;p14">
            <a:extLst>
              <a:ext uri="{FF2B5EF4-FFF2-40B4-BE49-F238E27FC236}">
                <a16:creationId xmlns:a16="http://schemas.microsoft.com/office/drawing/2014/main" id="{B2E446E0-337C-40B3-DA82-10CD0ABE3070}"/>
              </a:ext>
            </a:extLst>
          </p:cNvPr>
          <p:cNvSpPr txBox="1"/>
          <p:nvPr/>
        </p:nvSpPr>
        <p:spPr>
          <a:xfrm>
            <a:off x="676275" y="1389697"/>
            <a:ext cx="1138142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47954"/>
                </a:solidFill>
                <a:latin typeface="Poppins"/>
                <a:ea typeface="Poppins"/>
                <a:cs typeface="Poppins"/>
                <a:sym typeface="Poppins"/>
              </a:rPr>
              <a:t>Project Idea</a:t>
            </a:r>
            <a:endParaRPr dirty="0"/>
          </a:p>
        </p:txBody>
      </p:sp>
      <p:sp>
        <p:nvSpPr>
          <p:cNvPr id="19" name="Google Shape;109;p14">
            <a:extLst>
              <a:ext uri="{FF2B5EF4-FFF2-40B4-BE49-F238E27FC236}">
                <a16:creationId xmlns:a16="http://schemas.microsoft.com/office/drawing/2014/main" id="{1B6F5636-E103-5A15-086A-BAB61F56F5B7}"/>
              </a:ext>
            </a:extLst>
          </p:cNvPr>
          <p:cNvSpPr/>
          <p:nvPr/>
        </p:nvSpPr>
        <p:spPr>
          <a:xfrm>
            <a:off x="676275" y="1249681"/>
            <a:ext cx="10839450" cy="45719"/>
          </a:xfrm>
          <a:prstGeom prst="rect">
            <a:avLst/>
          </a:prstGeom>
          <a:solidFill>
            <a:srgbClr val="D7B1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110;p1">
            <a:extLst>
              <a:ext uri="{FF2B5EF4-FFF2-40B4-BE49-F238E27FC236}">
                <a16:creationId xmlns:a16="http://schemas.microsoft.com/office/drawing/2014/main" id="{6E4E4A7B-E053-80AB-4A2F-32FFA2BF0FCC}"/>
              </a:ext>
            </a:extLst>
          </p:cNvPr>
          <p:cNvPicPr preferRelativeResize="0"/>
          <p:nvPr/>
        </p:nvPicPr>
        <p:blipFill>
          <a:blip r:embed="rId8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23;p12">
            <a:extLst>
              <a:ext uri="{FF2B5EF4-FFF2-40B4-BE49-F238E27FC236}">
                <a16:creationId xmlns:a16="http://schemas.microsoft.com/office/drawing/2014/main" id="{95887C21-9C09-DCBC-A741-7537445CDB0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</a:t>
            </a:r>
            <a:r>
              <a:rPr lang="ar-SA" dirty="0"/>
              <a:t>1</a:t>
            </a:r>
            <a:r>
              <a:rPr lang="en-US" dirty="0"/>
              <a:t> / </a:t>
            </a:r>
            <a:r>
              <a:rPr lang="ar-SA" dirty="0"/>
              <a:t>30</a:t>
            </a:r>
            <a:r>
              <a:rPr lang="en-US" dirty="0"/>
              <a:t> / 2</a:t>
            </a:r>
            <a:r>
              <a:rPr lang="ar-SA" dirty="0"/>
              <a:t>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04870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2590E0-4D6C-E772-6A35-C10B295CEC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8" name="Google Shape;117;p15">
            <a:extLst>
              <a:ext uri="{FF2B5EF4-FFF2-40B4-BE49-F238E27FC236}">
                <a16:creationId xmlns:a16="http://schemas.microsoft.com/office/drawing/2014/main" id="{B94F6A08-8CBA-8FC9-58D1-EC6B4B830882}"/>
              </a:ext>
            </a:extLst>
          </p:cNvPr>
          <p:cNvSpPr txBox="1"/>
          <p:nvPr/>
        </p:nvSpPr>
        <p:spPr>
          <a:xfrm>
            <a:off x="6334127" y="2038350"/>
            <a:ext cx="544068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336EA8"/>
                </a:solidFill>
                <a:latin typeface="Poppins"/>
                <a:ea typeface="Poppins"/>
                <a:cs typeface="Poppins"/>
                <a:sym typeface="Poppins"/>
              </a:rPr>
              <a:t>User Journey</a:t>
            </a:r>
            <a:endParaRPr/>
          </a:p>
        </p:txBody>
      </p:sp>
      <p:sp>
        <p:nvSpPr>
          <p:cNvPr id="9" name="Google Shape;118;p15">
            <a:extLst>
              <a:ext uri="{FF2B5EF4-FFF2-40B4-BE49-F238E27FC236}">
                <a16:creationId xmlns:a16="http://schemas.microsoft.com/office/drawing/2014/main" id="{59864BF8-2009-33D3-9091-296120338181}"/>
              </a:ext>
            </a:extLst>
          </p:cNvPr>
          <p:cNvSpPr txBox="1"/>
          <p:nvPr/>
        </p:nvSpPr>
        <p:spPr>
          <a:xfrm>
            <a:off x="7096125" y="2543175"/>
            <a:ext cx="44196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Overview: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User lands on a live map view showing real-time traffic density.</a:t>
            </a:r>
            <a:endParaRPr/>
          </a:p>
        </p:txBody>
      </p:sp>
      <p:sp>
        <p:nvSpPr>
          <p:cNvPr id="10" name="Google Shape;119;p15">
            <a:extLst>
              <a:ext uri="{FF2B5EF4-FFF2-40B4-BE49-F238E27FC236}">
                <a16:creationId xmlns:a16="http://schemas.microsoft.com/office/drawing/2014/main" id="{9D575A24-AF2C-B02C-DCBA-E5AAD5E25B6C}"/>
              </a:ext>
            </a:extLst>
          </p:cNvPr>
          <p:cNvSpPr/>
          <p:nvPr/>
        </p:nvSpPr>
        <p:spPr>
          <a:xfrm>
            <a:off x="6715125" y="3295650"/>
            <a:ext cx="48006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20;p15">
            <a:extLst>
              <a:ext uri="{FF2B5EF4-FFF2-40B4-BE49-F238E27FC236}">
                <a16:creationId xmlns:a16="http://schemas.microsoft.com/office/drawing/2014/main" id="{9263B9CF-64EF-B50C-5ED9-9902724A82C6}"/>
              </a:ext>
            </a:extLst>
          </p:cNvPr>
          <p:cNvSpPr txBox="1"/>
          <p:nvPr/>
        </p:nvSpPr>
        <p:spPr>
          <a:xfrm>
            <a:off x="7096125" y="3448050"/>
            <a:ext cx="44196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Monitoring: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User views key KPIs (Avg Speed, Incident Count) on the side panel.</a:t>
            </a:r>
            <a:endParaRPr/>
          </a:p>
        </p:txBody>
      </p:sp>
      <p:sp>
        <p:nvSpPr>
          <p:cNvPr id="12" name="Google Shape;121;p15">
            <a:extLst>
              <a:ext uri="{FF2B5EF4-FFF2-40B4-BE49-F238E27FC236}">
                <a16:creationId xmlns:a16="http://schemas.microsoft.com/office/drawing/2014/main" id="{96D2839F-C98E-D367-FE62-1C629D7C7025}"/>
              </a:ext>
            </a:extLst>
          </p:cNvPr>
          <p:cNvSpPr/>
          <p:nvPr/>
        </p:nvSpPr>
        <p:spPr>
          <a:xfrm>
            <a:off x="6715125" y="4200525"/>
            <a:ext cx="48006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22;p15">
            <a:extLst>
              <a:ext uri="{FF2B5EF4-FFF2-40B4-BE49-F238E27FC236}">
                <a16:creationId xmlns:a16="http://schemas.microsoft.com/office/drawing/2014/main" id="{BEA270B1-AAEF-4E13-6611-0329147D8565}"/>
              </a:ext>
            </a:extLst>
          </p:cNvPr>
          <p:cNvSpPr txBox="1"/>
          <p:nvPr/>
        </p:nvSpPr>
        <p:spPr>
          <a:xfrm>
            <a:off x="7096125" y="4352925"/>
            <a:ext cx="44196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Action: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User receives a red alert for "High Congestion" and clicks to view details.</a:t>
            </a:r>
            <a:endParaRPr/>
          </a:p>
        </p:txBody>
      </p:sp>
      <p:sp>
        <p:nvSpPr>
          <p:cNvPr id="14" name="Google Shape;123;p15">
            <a:extLst>
              <a:ext uri="{FF2B5EF4-FFF2-40B4-BE49-F238E27FC236}">
                <a16:creationId xmlns:a16="http://schemas.microsoft.com/office/drawing/2014/main" id="{5CDD8210-7A54-D119-4A15-18066313370C}"/>
              </a:ext>
            </a:extLst>
          </p:cNvPr>
          <p:cNvSpPr/>
          <p:nvPr/>
        </p:nvSpPr>
        <p:spPr>
          <a:xfrm>
            <a:off x="6715125" y="5105400"/>
            <a:ext cx="48006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24;p15">
            <a:extLst>
              <a:ext uri="{FF2B5EF4-FFF2-40B4-BE49-F238E27FC236}">
                <a16:creationId xmlns:a16="http://schemas.microsoft.com/office/drawing/2014/main" id="{54CD08CB-BD24-67A6-29AC-9C4F54018594}"/>
              </a:ext>
            </a:extLst>
          </p:cNvPr>
          <p:cNvSpPr txBox="1"/>
          <p:nvPr/>
        </p:nvSpPr>
        <p:spPr>
          <a:xfrm>
            <a:off x="7096125" y="5257800"/>
            <a:ext cx="44196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Analysis: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User navigates to historical reports to view weekly trends.</a:t>
            </a:r>
            <a:endParaRPr/>
          </a:p>
        </p:txBody>
      </p:sp>
      <p:sp>
        <p:nvSpPr>
          <p:cNvPr id="16" name="Google Shape;125;p15">
            <a:extLst>
              <a:ext uri="{FF2B5EF4-FFF2-40B4-BE49-F238E27FC236}">
                <a16:creationId xmlns:a16="http://schemas.microsoft.com/office/drawing/2014/main" id="{43E750C9-AC4D-D064-8DB3-BFCB09DE7E37}"/>
              </a:ext>
            </a:extLst>
          </p:cNvPr>
          <p:cNvSpPr/>
          <p:nvPr/>
        </p:nvSpPr>
        <p:spPr>
          <a:xfrm>
            <a:off x="6715125" y="6010275"/>
            <a:ext cx="48006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26;p15">
            <a:extLst>
              <a:ext uri="{FF2B5EF4-FFF2-40B4-BE49-F238E27FC236}">
                <a16:creationId xmlns:a16="http://schemas.microsoft.com/office/drawing/2014/main" id="{4AD8EFE7-DF99-A141-977E-C409CC0C6DA2}"/>
              </a:ext>
            </a:extLst>
          </p:cNvPr>
          <p:cNvSpPr txBox="1"/>
          <p:nvPr/>
        </p:nvSpPr>
        <p:spPr>
          <a:xfrm>
            <a:off x="6810375" y="2447925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D7B11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" name="Google Shape;127;p15">
            <a:extLst>
              <a:ext uri="{FF2B5EF4-FFF2-40B4-BE49-F238E27FC236}">
                <a16:creationId xmlns:a16="http://schemas.microsoft.com/office/drawing/2014/main" id="{D43CEEA9-3D8C-44CD-45FE-8AAFDBF65346}"/>
              </a:ext>
            </a:extLst>
          </p:cNvPr>
          <p:cNvSpPr/>
          <p:nvPr/>
        </p:nvSpPr>
        <p:spPr>
          <a:xfrm>
            <a:off x="6715125" y="3295650"/>
            <a:ext cx="48006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28;p15">
            <a:extLst>
              <a:ext uri="{FF2B5EF4-FFF2-40B4-BE49-F238E27FC236}">
                <a16:creationId xmlns:a16="http://schemas.microsoft.com/office/drawing/2014/main" id="{C6D7AE38-96A5-A3DE-AA8B-694C33FC2BBB}"/>
              </a:ext>
            </a:extLst>
          </p:cNvPr>
          <p:cNvSpPr txBox="1"/>
          <p:nvPr/>
        </p:nvSpPr>
        <p:spPr>
          <a:xfrm>
            <a:off x="6810375" y="3352800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D7B11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" name="Google Shape;129;p15">
            <a:extLst>
              <a:ext uri="{FF2B5EF4-FFF2-40B4-BE49-F238E27FC236}">
                <a16:creationId xmlns:a16="http://schemas.microsoft.com/office/drawing/2014/main" id="{174E0013-EA36-2479-4117-9C33933B90FB}"/>
              </a:ext>
            </a:extLst>
          </p:cNvPr>
          <p:cNvSpPr/>
          <p:nvPr/>
        </p:nvSpPr>
        <p:spPr>
          <a:xfrm>
            <a:off x="6715125" y="4200525"/>
            <a:ext cx="48006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30;p15">
            <a:extLst>
              <a:ext uri="{FF2B5EF4-FFF2-40B4-BE49-F238E27FC236}">
                <a16:creationId xmlns:a16="http://schemas.microsoft.com/office/drawing/2014/main" id="{7B454592-F347-9586-352D-80B75B4DCFFF}"/>
              </a:ext>
            </a:extLst>
          </p:cNvPr>
          <p:cNvSpPr txBox="1"/>
          <p:nvPr/>
        </p:nvSpPr>
        <p:spPr>
          <a:xfrm>
            <a:off x="6810375" y="4257675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D7B11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" name="Google Shape;131;p15">
            <a:extLst>
              <a:ext uri="{FF2B5EF4-FFF2-40B4-BE49-F238E27FC236}">
                <a16:creationId xmlns:a16="http://schemas.microsoft.com/office/drawing/2014/main" id="{BC9483AD-71F0-27B8-0A58-FD08EAD4598A}"/>
              </a:ext>
            </a:extLst>
          </p:cNvPr>
          <p:cNvSpPr/>
          <p:nvPr/>
        </p:nvSpPr>
        <p:spPr>
          <a:xfrm>
            <a:off x="6715125" y="5105400"/>
            <a:ext cx="48006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2;p15">
            <a:extLst>
              <a:ext uri="{FF2B5EF4-FFF2-40B4-BE49-F238E27FC236}">
                <a16:creationId xmlns:a16="http://schemas.microsoft.com/office/drawing/2014/main" id="{119129DA-FA98-CB87-45C1-EF855E8BBE1A}"/>
              </a:ext>
            </a:extLst>
          </p:cNvPr>
          <p:cNvSpPr txBox="1"/>
          <p:nvPr/>
        </p:nvSpPr>
        <p:spPr>
          <a:xfrm>
            <a:off x="6810375" y="5162550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D7B11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" name="Google Shape;133;p15">
            <a:extLst>
              <a:ext uri="{FF2B5EF4-FFF2-40B4-BE49-F238E27FC236}">
                <a16:creationId xmlns:a16="http://schemas.microsoft.com/office/drawing/2014/main" id="{5DCA0B12-D20B-B6F3-60E8-D7DE45B776EC}"/>
              </a:ext>
            </a:extLst>
          </p:cNvPr>
          <p:cNvSpPr/>
          <p:nvPr/>
        </p:nvSpPr>
        <p:spPr>
          <a:xfrm>
            <a:off x="6715125" y="6010275"/>
            <a:ext cx="48006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134;p15">
            <a:extLst>
              <a:ext uri="{FF2B5EF4-FFF2-40B4-BE49-F238E27FC236}">
                <a16:creationId xmlns:a16="http://schemas.microsoft.com/office/drawing/2014/main" id="{8A840163-871B-90CE-FC92-D6CE217D41B5}"/>
              </a:ext>
            </a:extLst>
          </p:cNvPr>
          <p:cNvSpPr txBox="1"/>
          <p:nvPr/>
        </p:nvSpPr>
        <p:spPr>
          <a:xfrm>
            <a:off x="676275" y="1389876"/>
            <a:ext cx="115157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47954"/>
                </a:solidFill>
                <a:latin typeface="Poppins"/>
                <a:ea typeface="Poppins"/>
                <a:cs typeface="Poppins"/>
                <a:sym typeface="Poppins"/>
              </a:rPr>
              <a:t>Project Wireframe</a:t>
            </a:r>
            <a:endParaRPr dirty="0"/>
          </a:p>
        </p:txBody>
      </p:sp>
      <p:sp>
        <p:nvSpPr>
          <p:cNvPr id="26" name="Google Shape;135;p15">
            <a:extLst>
              <a:ext uri="{FF2B5EF4-FFF2-40B4-BE49-F238E27FC236}">
                <a16:creationId xmlns:a16="http://schemas.microsoft.com/office/drawing/2014/main" id="{7B2DAB2F-2D2F-7AB6-9FBA-A3264B411287}"/>
              </a:ext>
            </a:extLst>
          </p:cNvPr>
          <p:cNvSpPr/>
          <p:nvPr/>
        </p:nvSpPr>
        <p:spPr>
          <a:xfrm>
            <a:off x="676275" y="1266825"/>
            <a:ext cx="10839450" cy="28575"/>
          </a:xfrm>
          <a:prstGeom prst="rect">
            <a:avLst/>
          </a:prstGeom>
          <a:solidFill>
            <a:srgbClr val="D7B1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110;p1">
            <a:extLst>
              <a:ext uri="{FF2B5EF4-FFF2-40B4-BE49-F238E27FC236}">
                <a16:creationId xmlns:a16="http://schemas.microsoft.com/office/drawing/2014/main" id="{F34FD7BE-599D-4CB0-CC13-099A7070D042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223;p12">
            <a:extLst>
              <a:ext uri="{FF2B5EF4-FFF2-40B4-BE49-F238E27FC236}">
                <a16:creationId xmlns:a16="http://schemas.microsoft.com/office/drawing/2014/main" id="{15466460-3F40-CA90-5F38-97EB4EFFCA1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</a:t>
            </a:r>
            <a:r>
              <a:rPr lang="ar-SA" dirty="0"/>
              <a:t>1</a:t>
            </a:r>
            <a:r>
              <a:rPr lang="en-US" dirty="0"/>
              <a:t> / </a:t>
            </a:r>
            <a:r>
              <a:rPr lang="ar-SA" dirty="0"/>
              <a:t>30</a:t>
            </a:r>
            <a:r>
              <a:rPr lang="en-US" dirty="0"/>
              <a:t> / 2</a:t>
            </a:r>
            <a:r>
              <a:rPr lang="ar-SA" dirty="0"/>
              <a:t>5</a:t>
            </a:r>
            <a:endParaRPr dirty="0"/>
          </a:p>
        </p:txBody>
      </p:sp>
      <p:pic>
        <p:nvPicPr>
          <p:cNvPr id="34" name="Picture 33" descr="A screenshot of a dashboard&#10;&#10;AI-generated content may be incorrect.">
            <a:extLst>
              <a:ext uri="{FF2B5EF4-FFF2-40B4-BE49-F238E27FC236}">
                <a16:creationId xmlns:a16="http://schemas.microsoft.com/office/drawing/2014/main" id="{7044B2DA-4DE6-386D-DBDE-AA72D20E4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4" y="2183626"/>
            <a:ext cx="5263417" cy="188037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6" name="Picture 35" descr="A screenshot of a dashboard&#10;&#10;AI-generated content may be incorrect.">
            <a:extLst>
              <a:ext uri="{FF2B5EF4-FFF2-40B4-BE49-F238E27FC236}">
                <a16:creationId xmlns:a16="http://schemas.microsoft.com/office/drawing/2014/main" id="{19FC02C2-3B94-1B3F-D49B-2607F67F3D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3" y="4169975"/>
            <a:ext cx="5263418" cy="187084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248644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F3524-8988-4C1C-A533-1AE13F8845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6" name="Google Shape;141;p16">
            <a:extLst>
              <a:ext uri="{FF2B5EF4-FFF2-40B4-BE49-F238E27FC236}">
                <a16:creationId xmlns:a16="http://schemas.microsoft.com/office/drawing/2014/main" id="{7EF5315E-AF60-1CB0-E609-8419BCD4B9FF}"/>
              </a:ext>
            </a:extLst>
          </p:cNvPr>
          <p:cNvSpPr txBox="1"/>
          <p:nvPr/>
        </p:nvSpPr>
        <p:spPr>
          <a:xfrm>
            <a:off x="676275" y="2686050"/>
            <a:ext cx="220027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47954"/>
                </a:solidFill>
                <a:latin typeface="Poppins"/>
                <a:ea typeface="Poppins"/>
                <a:cs typeface="Poppins"/>
                <a:sym typeface="Poppins"/>
              </a:rPr>
              <a:t>Target Personas</a:t>
            </a:r>
            <a:endParaRPr/>
          </a:p>
        </p:txBody>
      </p:sp>
      <p:sp>
        <p:nvSpPr>
          <p:cNvPr id="7" name="Google Shape;142;p16">
            <a:extLst>
              <a:ext uri="{FF2B5EF4-FFF2-40B4-BE49-F238E27FC236}">
                <a16:creationId xmlns:a16="http://schemas.microsoft.com/office/drawing/2014/main" id="{85E78C63-132A-2263-A86B-FB85A708EE60}"/>
              </a:ext>
            </a:extLst>
          </p:cNvPr>
          <p:cNvSpPr/>
          <p:nvPr/>
        </p:nvSpPr>
        <p:spPr>
          <a:xfrm>
            <a:off x="676275" y="3105150"/>
            <a:ext cx="2095500" cy="19050"/>
          </a:xfrm>
          <a:prstGeom prst="rect">
            <a:avLst/>
          </a:prstGeom>
          <a:solidFill>
            <a:srgbClr val="D7B1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43;p16">
            <a:extLst>
              <a:ext uri="{FF2B5EF4-FFF2-40B4-BE49-F238E27FC236}">
                <a16:creationId xmlns:a16="http://schemas.microsoft.com/office/drawing/2014/main" id="{495D8021-7C67-06C8-4EAE-E33426DD8B15}"/>
              </a:ext>
            </a:extLst>
          </p:cNvPr>
          <p:cNvSpPr txBox="1"/>
          <p:nvPr/>
        </p:nvSpPr>
        <p:spPr>
          <a:xfrm>
            <a:off x="6334125" y="2076450"/>
            <a:ext cx="1750218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336EA8"/>
                </a:solidFill>
                <a:latin typeface="Poppins"/>
                <a:ea typeface="Poppins"/>
                <a:cs typeface="Poppins"/>
                <a:sym typeface="Poppins"/>
              </a:rPr>
              <a:t>Key Features</a:t>
            </a:r>
            <a:endParaRPr/>
          </a:p>
        </p:txBody>
      </p:sp>
      <p:sp>
        <p:nvSpPr>
          <p:cNvPr id="9" name="Google Shape;144;p16">
            <a:extLst>
              <a:ext uri="{FF2B5EF4-FFF2-40B4-BE49-F238E27FC236}">
                <a16:creationId xmlns:a16="http://schemas.microsoft.com/office/drawing/2014/main" id="{58F9264B-1F12-4AB0-29D1-BE205DEEFE93}"/>
              </a:ext>
            </a:extLst>
          </p:cNvPr>
          <p:cNvSpPr/>
          <p:nvPr/>
        </p:nvSpPr>
        <p:spPr>
          <a:xfrm>
            <a:off x="6334125" y="2495550"/>
            <a:ext cx="1666875" cy="19050"/>
          </a:xfrm>
          <a:prstGeom prst="rect">
            <a:avLst/>
          </a:prstGeom>
          <a:solidFill>
            <a:srgbClr val="D7B1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45;p16">
            <a:extLst>
              <a:ext uri="{FF2B5EF4-FFF2-40B4-BE49-F238E27FC236}">
                <a16:creationId xmlns:a16="http://schemas.microsoft.com/office/drawing/2014/main" id="{FCBCD7CF-004E-35E6-5251-35A438466E90}"/>
              </a:ext>
            </a:extLst>
          </p:cNvPr>
          <p:cNvSpPr txBox="1"/>
          <p:nvPr/>
        </p:nvSpPr>
        <p:spPr>
          <a:xfrm>
            <a:off x="676275" y="3457575"/>
            <a:ext cx="5181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6690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Traffic Authorities: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Need high-level overview and incident</a:t>
            </a:r>
          </a:p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alerts to manage city flow.</a:t>
            </a:r>
            <a:endParaRPr dirty="0"/>
          </a:p>
        </p:txBody>
      </p:sp>
      <p:sp>
        <p:nvSpPr>
          <p:cNvPr id="11" name="Google Shape;146;p16">
            <a:extLst>
              <a:ext uri="{FF2B5EF4-FFF2-40B4-BE49-F238E27FC236}">
                <a16:creationId xmlns:a16="http://schemas.microsoft.com/office/drawing/2014/main" id="{76244C74-156F-F09E-8C8B-33BEB3A3805F}"/>
              </a:ext>
            </a:extLst>
          </p:cNvPr>
          <p:cNvSpPr txBox="1"/>
          <p:nvPr/>
        </p:nvSpPr>
        <p:spPr>
          <a:xfrm>
            <a:off x="676275" y="4562475"/>
            <a:ext cx="5181600" cy="92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0970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500" b="1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         </a:t>
            </a:r>
            <a:r>
              <a:rPr lang="en-US" sz="1500" b="1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City Planners: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ar-SA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        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Need historical data to improve</a:t>
            </a:r>
            <a:endParaRPr lang="ar-SA" sz="1500" b="0" i="0" u="none" strike="noStrike" cap="none" dirty="0">
              <a:solidFill>
                <a:srgbClr val="444444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500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        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roa</a:t>
            </a:r>
            <a:r>
              <a:rPr lang="en-US" sz="1500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ar-SA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infrastructure.</a:t>
            </a:r>
            <a:endParaRPr dirty="0"/>
          </a:p>
        </p:txBody>
      </p:sp>
      <p:sp>
        <p:nvSpPr>
          <p:cNvPr id="12" name="Google Shape;147;p16">
            <a:extLst>
              <a:ext uri="{FF2B5EF4-FFF2-40B4-BE49-F238E27FC236}">
                <a16:creationId xmlns:a16="http://schemas.microsoft.com/office/drawing/2014/main" id="{242E6E4A-0DCD-4552-1085-90E113A6F547}"/>
              </a:ext>
            </a:extLst>
          </p:cNvPr>
          <p:cNvSpPr txBox="1"/>
          <p:nvPr/>
        </p:nvSpPr>
        <p:spPr>
          <a:xfrm>
            <a:off x="6715125" y="2952750"/>
            <a:ext cx="48006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Real-Time Map: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Visualizes live traffic density.</a:t>
            </a:r>
            <a:endParaRPr/>
          </a:p>
        </p:txBody>
      </p:sp>
      <p:sp>
        <p:nvSpPr>
          <p:cNvPr id="13" name="Google Shape;148;p16">
            <a:extLst>
              <a:ext uri="{FF2B5EF4-FFF2-40B4-BE49-F238E27FC236}">
                <a16:creationId xmlns:a16="http://schemas.microsoft.com/office/drawing/2014/main" id="{CAEA8EA3-41BE-78CC-9EE3-57B222EC1DF9}"/>
              </a:ext>
            </a:extLst>
          </p:cNvPr>
          <p:cNvSpPr/>
          <p:nvPr/>
        </p:nvSpPr>
        <p:spPr>
          <a:xfrm>
            <a:off x="6334125" y="3400425"/>
            <a:ext cx="51816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9;p16">
            <a:extLst>
              <a:ext uri="{FF2B5EF4-FFF2-40B4-BE49-F238E27FC236}">
                <a16:creationId xmlns:a16="http://schemas.microsoft.com/office/drawing/2014/main" id="{A194E959-DA2E-FA64-F4EE-6A86D0FB1AED}"/>
              </a:ext>
            </a:extLst>
          </p:cNvPr>
          <p:cNvSpPr txBox="1"/>
          <p:nvPr/>
        </p:nvSpPr>
        <p:spPr>
          <a:xfrm>
            <a:off x="6715125" y="3552825"/>
            <a:ext cx="48006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Anomaly Detection: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Automatic alerts for accidents or jams.</a:t>
            </a:r>
            <a:endParaRPr dirty="0"/>
          </a:p>
        </p:txBody>
      </p:sp>
      <p:sp>
        <p:nvSpPr>
          <p:cNvPr id="15" name="Google Shape;150;p16">
            <a:extLst>
              <a:ext uri="{FF2B5EF4-FFF2-40B4-BE49-F238E27FC236}">
                <a16:creationId xmlns:a16="http://schemas.microsoft.com/office/drawing/2014/main" id="{FF94ED69-A123-9A3F-BDB7-43E7EA909779}"/>
              </a:ext>
            </a:extLst>
          </p:cNvPr>
          <p:cNvSpPr/>
          <p:nvPr/>
        </p:nvSpPr>
        <p:spPr>
          <a:xfrm>
            <a:off x="6334125" y="4305300"/>
            <a:ext cx="51816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51;p16">
            <a:extLst>
              <a:ext uri="{FF2B5EF4-FFF2-40B4-BE49-F238E27FC236}">
                <a16:creationId xmlns:a16="http://schemas.microsoft.com/office/drawing/2014/main" id="{46104204-BCF9-4E2D-BAF5-BEF56B4D8987}"/>
              </a:ext>
            </a:extLst>
          </p:cNvPr>
          <p:cNvSpPr txBox="1"/>
          <p:nvPr/>
        </p:nvSpPr>
        <p:spPr>
          <a:xfrm>
            <a:off x="6715125" y="4457700"/>
            <a:ext cx="48006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Live Statistics: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Speed and volume metrics updated every second.</a:t>
            </a:r>
            <a:endParaRPr/>
          </a:p>
        </p:txBody>
      </p:sp>
      <p:sp>
        <p:nvSpPr>
          <p:cNvPr id="17" name="Google Shape;152;p16">
            <a:extLst>
              <a:ext uri="{FF2B5EF4-FFF2-40B4-BE49-F238E27FC236}">
                <a16:creationId xmlns:a16="http://schemas.microsoft.com/office/drawing/2014/main" id="{B1A599FA-E00F-ED08-9EEA-A976A6A56B71}"/>
              </a:ext>
            </a:extLst>
          </p:cNvPr>
          <p:cNvSpPr/>
          <p:nvPr/>
        </p:nvSpPr>
        <p:spPr>
          <a:xfrm>
            <a:off x="6334125" y="5210175"/>
            <a:ext cx="51816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53;p16">
            <a:extLst>
              <a:ext uri="{FF2B5EF4-FFF2-40B4-BE49-F238E27FC236}">
                <a16:creationId xmlns:a16="http://schemas.microsoft.com/office/drawing/2014/main" id="{0670FCB8-8170-60DB-A4CE-C65CE99022FA}"/>
              </a:ext>
            </a:extLst>
          </p:cNvPr>
          <p:cNvSpPr txBox="1"/>
          <p:nvPr/>
        </p:nvSpPr>
        <p:spPr>
          <a:xfrm>
            <a:off x="6715125" y="5362575"/>
            <a:ext cx="48006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Historical Reports: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Long-term trend analysis.</a:t>
            </a:r>
            <a:endParaRPr/>
          </a:p>
        </p:txBody>
      </p:sp>
      <p:sp>
        <p:nvSpPr>
          <p:cNvPr id="19" name="Google Shape;154;p16">
            <a:extLst>
              <a:ext uri="{FF2B5EF4-FFF2-40B4-BE49-F238E27FC236}">
                <a16:creationId xmlns:a16="http://schemas.microsoft.com/office/drawing/2014/main" id="{E13E5A1D-977B-3FFC-2EFF-B4A50D3FDBE2}"/>
              </a:ext>
            </a:extLst>
          </p:cNvPr>
          <p:cNvSpPr/>
          <p:nvPr/>
        </p:nvSpPr>
        <p:spPr>
          <a:xfrm>
            <a:off x="6334125" y="5810250"/>
            <a:ext cx="51816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155;p16" descr="image.png">
            <a:extLst>
              <a:ext uri="{FF2B5EF4-FFF2-40B4-BE49-F238E27FC236}">
                <a16:creationId xmlns:a16="http://schemas.microsoft.com/office/drawing/2014/main" id="{8E76492C-D16C-D7E5-6EA0-43650BF2356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76275" y="3524250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56;p16" descr="image.png">
            <a:extLst>
              <a:ext uri="{FF2B5EF4-FFF2-40B4-BE49-F238E27FC236}">
                <a16:creationId xmlns:a16="http://schemas.microsoft.com/office/drawing/2014/main" id="{2B3804FB-BF45-5136-C449-AD7C2BB36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6275" y="462915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57;p16">
            <a:extLst>
              <a:ext uri="{FF2B5EF4-FFF2-40B4-BE49-F238E27FC236}">
                <a16:creationId xmlns:a16="http://schemas.microsoft.com/office/drawing/2014/main" id="{7C669758-8C97-29DA-EE5E-09A4A903FF2D}"/>
              </a:ext>
            </a:extLst>
          </p:cNvPr>
          <p:cNvSpPr txBox="1"/>
          <p:nvPr/>
        </p:nvSpPr>
        <p:spPr>
          <a:xfrm>
            <a:off x="6429375" y="2857500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D7B11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" name="Google Shape;158;p16">
            <a:extLst>
              <a:ext uri="{FF2B5EF4-FFF2-40B4-BE49-F238E27FC236}">
                <a16:creationId xmlns:a16="http://schemas.microsoft.com/office/drawing/2014/main" id="{4F2E54CB-9067-8C5E-14E0-FA317E154D88}"/>
              </a:ext>
            </a:extLst>
          </p:cNvPr>
          <p:cNvSpPr/>
          <p:nvPr/>
        </p:nvSpPr>
        <p:spPr>
          <a:xfrm>
            <a:off x="6334125" y="3400425"/>
            <a:ext cx="51816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159;p16">
            <a:extLst>
              <a:ext uri="{FF2B5EF4-FFF2-40B4-BE49-F238E27FC236}">
                <a16:creationId xmlns:a16="http://schemas.microsoft.com/office/drawing/2014/main" id="{4CCEB515-FBDF-518E-24E5-3C9AEFF6ABF0}"/>
              </a:ext>
            </a:extLst>
          </p:cNvPr>
          <p:cNvSpPr txBox="1"/>
          <p:nvPr/>
        </p:nvSpPr>
        <p:spPr>
          <a:xfrm>
            <a:off x="6429375" y="3457575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D7B11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" name="Google Shape;160;p16">
            <a:extLst>
              <a:ext uri="{FF2B5EF4-FFF2-40B4-BE49-F238E27FC236}">
                <a16:creationId xmlns:a16="http://schemas.microsoft.com/office/drawing/2014/main" id="{0B5D6BD8-805A-DAD4-69FA-45F35FA7F8F6}"/>
              </a:ext>
            </a:extLst>
          </p:cNvPr>
          <p:cNvSpPr/>
          <p:nvPr/>
        </p:nvSpPr>
        <p:spPr>
          <a:xfrm>
            <a:off x="6334125" y="4305300"/>
            <a:ext cx="51816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61;p16">
            <a:extLst>
              <a:ext uri="{FF2B5EF4-FFF2-40B4-BE49-F238E27FC236}">
                <a16:creationId xmlns:a16="http://schemas.microsoft.com/office/drawing/2014/main" id="{2C50C14C-46AF-D7D1-EDEE-FC4099A8108B}"/>
              </a:ext>
            </a:extLst>
          </p:cNvPr>
          <p:cNvSpPr txBox="1"/>
          <p:nvPr/>
        </p:nvSpPr>
        <p:spPr>
          <a:xfrm>
            <a:off x="6429375" y="4362450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D7B11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" name="Google Shape;162;p16">
            <a:extLst>
              <a:ext uri="{FF2B5EF4-FFF2-40B4-BE49-F238E27FC236}">
                <a16:creationId xmlns:a16="http://schemas.microsoft.com/office/drawing/2014/main" id="{D1CC6AC4-2F4A-A275-AC06-6D0EAC891C8F}"/>
              </a:ext>
            </a:extLst>
          </p:cNvPr>
          <p:cNvSpPr/>
          <p:nvPr/>
        </p:nvSpPr>
        <p:spPr>
          <a:xfrm>
            <a:off x="6334125" y="5210175"/>
            <a:ext cx="51816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163;p16">
            <a:extLst>
              <a:ext uri="{FF2B5EF4-FFF2-40B4-BE49-F238E27FC236}">
                <a16:creationId xmlns:a16="http://schemas.microsoft.com/office/drawing/2014/main" id="{72FC3C9E-572D-D293-7F52-AEB947F949A3}"/>
              </a:ext>
            </a:extLst>
          </p:cNvPr>
          <p:cNvSpPr txBox="1"/>
          <p:nvPr/>
        </p:nvSpPr>
        <p:spPr>
          <a:xfrm>
            <a:off x="6429375" y="5267325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D7B11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9" name="Google Shape;164;p16">
            <a:extLst>
              <a:ext uri="{FF2B5EF4-FFF2-40B4-BE49-F238E27FC236}">
                <a16:creationId xmlns:a16="http://schemas.microsoft.com/office/drawing/2014/main" id="{1BB7447D-D5A0-6C30-DC97-3F7AEABFC052}"/>
              </a:ext>
            </a:extLst>
          </p:cNvPr>
          <p:cNvSpPr/>
          <p:nvPr/>
        </p:nvSpPr>
        <p:spPr>
          <a:xfrm>
            <a:off x="6334125" y="5810250"/>
            <a:ext cx="51816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165;p16">
            <a:extLst>
              <a:ext uri="{FF2B5EF4-FFF2-40B4-BE49-F238E27FC236}">
                <a16:creationId xmlns:a16="http://schemas.microsoft.com/office/drawing/2014/main" id="{0C120322-90FA-F4C5-539D-15FB829E91CC}"/>
              </a:ext>
            </a:extLst>
          </p:cNvPr>
          <p:cNvSpPr txBox="1"/>
          <p:nvPr/>
        </p:nvSpPr>
        <p:spPr>
          <a:xfrm>
            <a:off x="676275" y="1376362"/>
            <a:ext cx="11381422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47954"/>
                </a:solidFill>
                <a:latin typeface="Poppins"/>
                <a:ea typeface="Poppins"/>
                <a:cs typeface="Poppins"/>
                <a:sym typeface="Poppins"/>
              </a:rPr>
              <a:t>End Users + Features</a:t>
            </a:r>
            <a:endParaRPr dirty="0"/>
          </a:p>
        </p:txBody>
      </p:sp>
      <p:sp>
        <p:nvSpPr>
          <p:cNvPr id="31" name="Google Shape;166;p16">
            <a:extLst>
              <a:ext uri="{FF2B5EF4-FFF2-40B4-BE49-F238E27FC236}">
                <a16:creationId xmlns:a16="http://schemas.microsoft.com/office/drawing/2014/main" id="{0AAFC1D0-127F-FF6A-9AF8-693D41D9E7D5}"/>
              </a:ext>
            </a:extLst>
          </p:cNvPr>
          <p:cNvSpPr/>
          <p:nvPr/>
        </p:nvSpPr>
        <p:spPr>
          <a:xfrm>
            <a:off x="676275" y="1266825"/>
            <a:ext cx="10839450" cy="28575"/>
          </a:xfrm>
          <a:prstGeom prst="rect">
            <a:avLst/>
          </a:prstGeom>
          <a:solidFill>
            <a:srgbClr val="D7B1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Google Shape;110;p1">
            <a:extLst>
              <a:ext uri="{FF2B5EF4-FFF2-40B4-BE49-F238E27FC236}">
                <a16:creationId xmlns:a16="http://schemas.microsoft.com/office/drawing/2014/main" id="{2A1350FE-6490-7F2E-826C-6C41AB8D03B8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223;p12">
            <a:extLst>
              <a:ext uri="{FF2B5EF4-FFF2-40B4-BE49-F238E27FC236}">
                <a16:creationId xmlns:a16="http://schemas.microsoft.com/office/drawing/2014/main" id="{ADD573F6-127D-A118-7A2F-B84A2EF6D9B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</a:t>
            </a:r>
            <a:r>
              <a:rPr lang="ar-SA" dirty="0"/>
              <a:t>1</a:t>
            </a:r>
            <a:r>
              <a:rPr lang="en-US" dirty="0"/>
              <a:t> / </a:t>
            </a:r>
            <a:r>
              <a:rPr lang="ar-SA" dirty="0"/>
              <a:t>30</a:t>
            </a:r>
            <a:r>
              <a:rPr lang="en-US" dirty="0"/>
              <a:t> / 2</a:t>
            </a:r>
            <a:r>
              <a:rPr lang="ar-SA" dirty="0"/>
              <a:t>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014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357BA-B2C2-6D67-2880-251A0CD3B0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pic>
        <p:nvPicPr>
          <p:cNvPr id="6" name="Google Shape;172;p17" descr="image.png">
            <a:extLst>
              <a:ext uri="{FF2B5EF4-FFF2-40B4-BE49-F238E27FC236}">
                <a16:creationId xmlns:a16="http://schemas.microsoft.com/office/drawing/2014/main" id="{25A418F5-5F1F-77A2-3510-1D29D907B53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76275" y="2119312"/>
            <a:ext cx="51816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74;p17">
            <a:extLst>
              <a:ext uri="{FF2B5EF4-FFF2-40B4-BE49-F238E27FC236}">
                <a16:creationId xmlns:a16="http://schemas.microsoft.com/office/drawing/2014/main" id="{B5DE4920-5EC8-8D6F-C78A-434AF33DCC40}"/>
              </a:ext>
            </a:extLst>
          </p:cNvPr>
          <p:cNvSpPr txBox="1"/>
          <p:nvPr/>
        </p:nvSpPr>
        <p:spPr>
          <a:xfrm>
            <a:off x="6334125" y="2400300"/>
            <a:ext cx="544068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336EA8"/>
                </a:solidFill>
                <a:latin typeface="Poppins"/>
                <a:ea typeface="Poppins"/>
                <a:cs typeface="Poppins"/>
                <a:sym typeface="Poppins"/>
              </a:rPr>
              <a:t>Database Architecture</a:t>
            </a:r>
            <a:endParaRPr/>
          </a:p>
        </p:txBody>
      </p:sp>
      <p:sp>
        <p:nvSpPr>
          <p:cNvPr id="9" name="Google Shape;175;p17">
            <a:extLst>
              <a:ext uri="{FF2B5EF4-FFF2-40B4-BE49-F238E27FC236}">
                <a16:creationId xmlns:a16="http://schemas.microsoft.com/office/drawing/2014/main" id="{0C4B2B7D-33C3-DC41-231D-F3D18ABEC7C8}"/>
              </a:ext>
            </a:extLst>
          </p:cNvPr>
          <p:cNvSpPr txBox="1"/>
          <p:nvPr/>
        </p:nvSpPr>
        <p:spPr>
          <a:xfrm>
            <a:off x="6334125" y="2962275"/>
            <a:ext cx="5181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We utilize a hybrid approach with </a:t>
            </a:r>
            <a:r>
              <a:rPr lang="en-US" sz="1500" b="1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Azure SQL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(Relational) for structured storage and </a:t>
            </a:r>
            <a:r>
              <a:rPr lang="en-US" sz="1500" b="1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Event Hubs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for streaming.</a:t>
            </a:r>
            <a:endParaRPr dirty="0"/>
          </a:p>
        </p:txBody>
      </p:sp>
      <p:sp>
        <p:nvSpPr>
          <p:cNvPr id="10" name="Google Shape;176;p17">
            <a:extLst>
              <a:ext uri="{FF2B5EF4-FFF2-40B4-BE49-F238E27FC236}">
                <a16:creationId xmlns:a16="http://schemas.microsoft.com/office/drawing/2014/main" id="{6716F6DB-FDEF-584E-E686-FD1139F5C60E}"/>
              </a:ext>
            </a:extLst>
          </p:cNvPr>
          <p:cNvSpPr txBox="1"/>
          <p:nvPr/>
        </p:nvSpPr>
        <p:spPr>
          <a:xfrm>
            <a:off x="6334125" y="3762375"/>
            <a:ext cx="5181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Key Entities:</a:t>
            </a:r>
            <a:endParaRPr/>
          </a:p>
        </p:txBody>
      </p:sp>
      <p:sp>
        <p:nvSpPr>
          <p:cNvPr id="11" name="Google Shape;177;p17">
            <a:extLst>
              <a:ext uri="{FF2B5EF4-FFF2-40B4-BE49-F238E27FC236}">
                <a16:creationId xmlns:a16="http://schemas.microsoft.com/office/drawing/2014/main" id="{154C0DCA-12BF-F6E0-DD4B-F035279B7FED}"/>
              </a:ext>
            </a:extLst>
          </p:cNvPr>
          <p:cNvSpPr txBox="1"/>
          <p:nvPr/>
        </p:nvSpPr>
        <p:spPr>
          <a:xfrm>
            <a:off x="6781311" y="416698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2" name="Google Shape;178;p17">
            <a:extLst>
              <a:ext uri="{FF2B5EF4-FFF2-40B4-BE49-F238E27FC236}">
                <a16:creationId xmlns:a16="http://schemas.microsoft.com/office/drawing/2014/main" id="{8301F8DF-33AA-0E1B-F777-0BD9158AAE92}"/>
              </a:ext>
            </a:extLst>
          </p:cNvPr>
          <p:cNvSpPr txBox="1"/>
          <p:nvPr/>
        </p:nvSpPr>
        <p:spPr>
          <a:xfrm>
            <a:off x="6905625" y="4069601"/>
            <a:ext cx="4610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Vehicles</a:t>
            </a:r>
            <a:endParaRPr dirty="0"/>
          </a:p>
        </p:txBody>
      </p:sp>
      <p:sp>
        <p:nvSpPr>
          <p:cNvPr id="13" name="Google Shape;179;p17">
            <a:extLst>
              <a:ext uri="{FF2B5EF4-FFF2-40B4-BE49-F238E27FC236}">
                <a16:creationId xmlns:a16="http://schemas.microsoft.com/office/drawing/2014/main" id="{E4ACB571-6ECB-AB19-56E4-F09FD05F3053}"/>
              </a:ext>
            </a:extLst>
          </p:cNvPr>
          <p:cNvSpPr txBox="1"/>
          <p:nvPr/>
        </p:nvSpPr>
        <p:spPr>
          <a:xfrm>
            <a:off x="6769833" y="44513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4" name="Google Shape;180;p17">
            <a:extLst>
              <a:ext uri="{FF2B5EF4-FFF2-40B4-BE49-F238E27FC236}">
                <a16:creationId xmlns:a16="http://schemas.microsoft.com/office/drawing/2014/main" id="{38378752-DB15-7517-82D0-B34A51E344E1}"/>
              </a:ext>
            </a:extLst>
          </p:cNvPr>
          <p:cNvSpPr txBox="1"/>
          <p:nvPr/>
        </p:nvSpPr>
        <p:spPr>
          <a:xfrm>
            <a:off x="6920767" y="4382269"/>
            <a:ext cx="4610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Sensors</a:t>
            </a:r>
            <a:endParaRPr dirty="0"/>
          </a:p>
        </p:txBody>
      </p:sp>
      <p:sp>
        <p:nvSpPr>
          <p:cNvPr id="15" name="Google Shape;181;p17">
            <a:extLst>
              <a:ext uri="{FF2B5EF4-FFF2-40B4-BE49-F238E27FC236}">
                <a16:creationId xmlns:a16="http://schemas.microsoft.com/office/drawing/2014/main" id="{CEE286B2-B9F7-F476-1B0D-B0D1C416FF44}"/>
              </a:ext>
            </a:extLst>
          </p:cNvPr>
          <p:cNvSpPr txBox="1"/>
          <p:nvPr/>
        </p:nvSpPr>
        <p:spPr>
          <a:xfrm>
            <a:off x="6765680" y="4741624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6" name="Google Shape;182;p17">
            <a:extLst>
              <a:ext uri="{FF2B5EF4-FFF2-40B4-BE49-F238E27FC236}">
                <a16:creationId xmlns:a16="http://schemas.microsoft.com/office/drawing/2014/main" id="{C52409E8-F2F2-F80A-FE82-535E49CD923F}"/>
              </a:ext>
            </a:extLst>
          </p:cNvPr>
          <p:cNvSpPr txBox="1"/>
          <p:nvPr/>
        </p:nvSpPr>
        <p:spPr>
          <a:xfrm>
            <a:off x="6920767" y="4664869"/>
            <a:ext cx="4610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Events</a:t>
            </a:r>
            <a:endParaRPr lang="en-US" dirty="0"/>
          </a:p>
        </p:txBody>
      </p:sp>
      <p:sp>
        <p:nvSpPr>
          <p:cNvPr id="17" name="Google Shape;183;p17">
            <a:extLst>
              <a:ext uri="{FF2B5EF4-FFF2-40B4-BE49-F238E27FC236}">
                <a16:creationId xmlns:a16="http://schemas.microsoft.com/office/drawing/2014/main" id="{DCD74152-617F-7D82-6A69-5C22BF1ED34A}"/>
              </a:ext>
            </a:extLst>
          </p:cNvPr>
          <p:cNvSpPr txBox="1"/>
          <p:nvPr/>
        </p:nvSpPr>
        <p:spPr>
          <a:xfrm>
            <a:off x="676275" y="1368425"/>
            <a:ext cx="11381422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47954"/>
                </a:solidFill>
                <a:latin typeface="Poppins"/>
                <a:ea typeface="Poppins"/>
                <a:cs typeface="Poppins"/>
                <a:sym typeface="Poppins"/>
              </a:rPr>
              <a:t>Data Structure</a:t>
            </a:r>
            <a:endParaRPr dirty="0"/>
          </a:p>
        </p:txBody>
      </p:sp>
      <p:sp>
        <p:nvSpPr>
          <p:cNvPr id="18" name="Google Shape;184;p17">
            <a:extLst>
              <a:ext uri="{FF2B5EF4-FFF2-40B4-BE49-F238E27FC236}">
                <a16:creationId xmlns:a16="http://schemas.microsoft.com/office/drawing/2014/main" id="{865D37A5-863B-CDD6-BB48-4C1EF43A28CC}"/>
              </a:ext>
            </a:extLst>
          </p:cNvPr>
          <p:cNvSpPr/>
          <p:nvPr/>
        </p:nvSpPr>
        <p:spPr>
          <a:xfrm>
            <a:off x="676275" y="1266825"/>
            <a:ext cx="10839450" cy="28575"/>
          </a:xfrm>
          <a:prstGeom prst="rect">
            <a:avLst/>
          </a:prstGeom>
          <a:solidFill>
            <a:srgbClr val="D7B1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110;p1">
            <a:extLst>
              <a:ext uri="{FF2B5EF4-FFF2-40B4-BE49-F238E27FC236}">
                <a16:creationId xmlns:a16="http://schemas.microsoft.com/office/drawing/2014/main" id="{972DAFBE-9ED1-1DD8-8E11-68C7C496FE7C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3;p12">
            <a:extLst>
              <a:ext uri="{FF2B5EF4-FFF2-40B4-BE49-F238E27FC236}">
                <a16:creationId xmlns:a16="http://schemas.microsoft.com/office/drawing/2014/main" id="{685EB130-2BE9-7F06-C4FB-ADA069231AB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</a:t>
            </a:r>
            <a:r>
              <a:rPr lang="ar-SA" dirty="0"/>
              <a:t>1</a:t>
            </a:r>
            <a:r>
              <a:rPr lang="en-US" dirty="0"/>
              <a:t> / </a:t>
            </a:r>
            <a:r>
              <a:rPr lang="ar-SA" dirty="0"/>
              <a:t>30</a:t>
            </a:r>
            <a:r>
              <a:rPr lang="en-US" dirty="0"/>
              <a:t> / 2</a:t>
            </a:r>
            <a:r>
              <a:rPr lang="ar-SA" dirty="0"/>
              <a:t>5</a:t>
            </a:r>
            <a:endParaRPr dirty="0"/>
          </a:p>
        </p:txBody>
      </p:sp>
      <p:pic>
        <p:nvPicPr>
          <p:cNvPr id="24" name="Picture 2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A738AAA-6E8D-947F-EFE4-4535E2D2CE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4" y="2962275"/>
            <a:ext cx="5419725" cy="2143125"/>
          </a:xfrm>
          <a:prstGeom prst="rect">
            <a:avLst/>
          </a:prstGeom>
        </p:spPr>
      </p:pic>
      <p:sp>
        <p:nvSpPr>
          <p:cNvPr id="25" name="Google Shape;181;p17">
            <a:extLst>
              <a:ext uri="{FF2B5EF4-FFF2-40B4-BE49-F238E27FC236}">
                <a16:creationId xmlns:a16="http://schemas.microsoft.com/office/drawing/2014/main" id="{F7EB7C70-FDBD-6555-90C0-B1C2B3D55916}"/>
              </a:ext>
            </a:extLst>
          </p:cNvPr>
          <p:cNvSpPr txBox="1"/>
          <p:nvPr/>
        </p:nvSpPr>
        <p:spPr>
          <a:xfrm>
            <a:off x="6769833" y="5037336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26" name="Google Shape;180;p17">
            <a:extLst>
              <a:ext uri="{FF2B5EF4-FFF2-40B4-BE49-F238E27FC236}">
                <a16:creationId xmlns:a16="http://schemas.microsoft.com/office/drawing/2014/main" id="{0DC65B08-9BEB-F85A-59ED-6817C9493A65}"/>
              </a:ext>
            </a:extLst>
          </p:cNvPr>
          <p:cNvSpPr txBox="1"/>
          <p:nvPr/>
        </p:nvSpPr>
        <p:spPr>
          <a:xfrm>
            <a:off x="6924920" y="4972804"/>
            <a:ext cx="4610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Locations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4826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47A78-3737-0E74-6978-4FD48A7E17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pic>
        <p:nvPicPr>
          <p:cNvPr id="6" name="Google Shape;190;p18" descr="image.png">
            <a:extLst>
              <a:ext uri="{FF2B5EF4-FFF2-40B4-BE49-F238E27FC236}">
                <a16:creationId xmlns:a16="http://schemas.microsoft.com/office/drawing/2014/main" id="{D5846B45-07A4-878C-5E79-190593ADBCA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76275" y="2362200"/>
            <a:ext cx="3422600" cy="332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91;p18" descr="image.png">
            <a:extLst>
              <a:ext uri="{FF2B5EF4-FFF2-40B4-BE49-F238E27FC236}">
                <a16:creationId xmlns:a16="http://schemas.microsoft.com/office/drawing/2014/main" id="{F4B4BE09-AEDF-D0D9-E9BC-2276BA69A7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4625" y="2362200"/>
            <a:ext cx="3422600" cy="332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92;p18" descr="image.png">
            <a:extLst>
              <a:ext uri="{FF2B5EF4-FFF2-40B4-BE49-F238E27FC236}">
                <a16:creationId xmlns:a16="http://schemas.microsoft.com/office/drawing/2014/main" id="{FAAC8B10-8DEA-104A-B81C-3746B4ECA1C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2975" y="2328862"/>
            <a:ext cx="3422600" cy="332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93;p18" descr="image.png">
            <a:extLst>
              <a:ext uri="{FF2B5EF4-FFF2-40B4-BE49-F238E27FC236}">
                <a16:creationId xmlns:a16="http://schemas.microsoft.com/office/drawing/2014/main" id="{C930CC8D-42B7-694F-554A-D661C1ADAFD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8725" y="2695575"/>
            <a:ext cx="2851100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94;p18">
            <a:extLst>
              <a:ext uri="{FF2B5EF4-FFF2-40B4-BE49-F238E27FC236}">
                <a16:creationId xmlns:a16="http://schemas.microsoft.com/office/drawing/2014/main" id="{2D538DE4-B69C-7C41-9578-865DE3051906}"/>
              </a:ext>
            </a:extLst>
          </p:cNvPr>
          <p:cNvSpPr txBox="1"/>
          <p:nvPr/>
        </p:nvSpPr>
        <p:spPr>
          <a:xfrm>
            <a:off x="890747" y="3429000"/>
            <a:ext cx="299365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336EA8"/>
                </a:solidFill>
                <a:latin typeface="Poppins"/>
                <a:ea typeface="Poppins"/>
                <a:cs typeface="Poppins"/>
                <a:sym typeface="Poppins"/>
              </a:rPr>
              <a:t>Python</a:t>
            </a:r>
            <a:endParaRPr/>
          </a:p>
        </p:txBody>
      </p:sp>
      <p:sp>
        <p:nvSpPr>
          <p:cNvPr id="11" name="Google Shape;195;p18">
            <a:extLst>
              <a:ext uri="{FF2B5EF4-FFF2-40B4-BE49-F238E27FC236}">
                <a16:creationId xmlns:a16="http://schemas.microsoft.com/office/drawing/2014/main" id="{EED6DB5E-7CE4-324A-76AC-3C4F52F2AE7C}"/>
              </a:ext>
            </a:extLst>
          </p:cNvPr>
          <p:cNvSpPr txBox="1"/>
          <p:nvPr/>
        </p:nvSpPr>
        <p:spPr>
          <a:xfrm>
            <a:off x="962025" y="3990975"/>
            <a:ext cx="28511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Used for the </a:t>
            </a:r>
            <a:r>
              <a:rPr lang="en-US" sz="1500" b="1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Traffic Simulation Script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to generate realistic vehicle data (speed, location) and push to Azure.</a:t>
            </a:r>
            <a:endParaRPr dirty="0"/>
          </a:p>
        </p:txBody>
      </p:sp>
      <p:sp>
        <p:nvSpPr>
          <p:cNvPr id="12" name="Google Shape;196;p18">
            <a:extLst>
              <a:ext uri="{FF2B5EF4-FFF2-40B4-BE49-F238E27FC236}">
                <a16:creationId xmlns:a16="http://schemas.microsoft.com/office/drawing/2014/main" id="{8A1FF42B-5D13-5E74-3552-6F9FADC19BB9}"/>
              </a:ext>
            </a:extLst>
          </p:cNvPr>
          <p:cNvSpPr txBox="1"/>
          <p:nvPr/>
        </p:nvSpPr>
        <p:spPr>
          <a:xfrm>
            <a:off x="4599097" y="3429000"/>
            <a:ext cx="299365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336EA8"/>
                </a:solidFill>
                <a:latin typeface="Poppins"/>
                <a:ea typeface="Poppins"/>
                <a:cs typeface="Poppins"/>
                <a:sym typeface="Poppins"/>
              </a:rPr>
              <a:t>Azure Services</a:t>
            </a:r>
            <a:endParaRPr/>
          </a:p>
        </p:txBody>
      </p:sp>
      <p:sp>
        <p:nvSpPr>
          <p:cNvPr id="13" name="Google Shape;197;p18">
            <a:extLst>
              <a:ext uri="{FF2B5EF4-FFF2-40B4-BE49-F238E27FC236}">
                <a16:creationId xmlns:a16="http://schemas.microsoft.com/office/drawing/2014/main" id="{F97E2A3E-8AE2-67B5-ACED-2280B1FBE4BD}"/>
              </a:ext>
            </a:extLst>
          </p:cNvPr>
          <p:cNvSpPr txBox="1"/>
          <p:nvPr/>
        </p:nvSpPr>
        <p:spPr>
          <a:xfrm>
            <a:off x="4670375" y="3990975"/>
            <a:ext cx="2851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Event Hubs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for ingestion and </a:t>
            </a:r>
            <a:r>
              <a:rPr lang="en-US" sz="1500" b="1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Stream Analytics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(SQL-like query language) for real-time processing.</a:t>
            </a:r>
            <a:endParaRPr dirty="0"/>
          </a:p>
        </p:txBody>
      </p:sp>
      <p:sp>
        <p:nvSpPr>
          <p:cNvPr id="14" name="Google Shape;198;p18">
            <a:extLst>
              <a:ext uri="{FF2B5EF4-FFF2-40B4-BE49-F238E27FC236}">
                <a16:creationId xmlns:a16="http://schemas.microsoft.com/office/drawing/2014/main" id="{F9369D87-BB53-8368-E76B-A2F613E41D20}"/>
              </a:ext>
            </a:extLst>
          </p:cNvPr>
          <p:cNvSpPr txBox="1"/>
          <p:nvPr/>
        </p:nvSpPr>
        <p:spPr>
          <a:xfrm>
            <a:off x="8307448" y="3429000"/>
            <a:ext cx="299365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336EA8"/>
                </a:solidFill>
                <a:latin typeface="Poppins"/>
                <a:ea typeface="Poppins"/>
                <a:cs typeface="Poppins"/>
                <a:sym typeface="Poppins"/>
              </a:rPr>
              <a:t>Power BI</a:t>
            </a:r>
            <a:endParaRPr/>
          </a:p>
        </p:txBody>
      </p:sp>
      <p:sp>
        <p:nvSpPr>
          <p:cNvPr id="15" name="Google Shape;199;p18">
            <a:extLst>
              <a:ext uri="{FF2B5EF4-FFF2-40B4-BE49-F238E27FC236}">
                <a16:creationId xmlns:a16="http://schemas.microsoft.com/office/drawing/2014/main" id="{FB171676-5367-2382-247C-D35DB5578F94}"/>
              </a:ext>
            </a:extLst>
          </p:cNvPr>
          <p:cNvSpPr txBox="1"/>
          <p:nvPr/>
        </p:nvSpPr>
        <p:spPr>
          <a:xfrm>
            <a:off x="8378725" y="3990975"/>
            <a:ext cx="28511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The visualization layer. </a:t>
            </a:r>
            <a:r>
              <a:rPr lang="en-US" sz="1500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Using </a:t>
            </a:r>
            <a:r>
              <a:rPr lang="en-US" sz="1500" b="1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DAX </a:t>
            </a:r>
            <a:r>
              <a:rPr lang="en-US" sz="1500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for C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reating custom measures and dynamic dashboard tiles.</a:t>
            </a:r>
            <a:endParaRPr dirty="0"/>
          </a:p>
        </p:txBody>
      </p:sp>
      <p:pic>
        <p:nvPicPr>
          <p:cNvPr id="16" name="Google Shape;200;p18" descr="image.png">
            <a:extLst>
              <a:ext uri="{FF2B5EF4-FFF2-40B4-BE49-F238E27FC236}">
                <a16:creationId xmlns:a16="http://schemas.microsoft.com/office/drawing/2014/main" id="{E10ECB8A-D8A5-A8C4-0B0C-2653F9E2A69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87475" y="274320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201;p18" descr="image.png">
            <a:extLst>
              <a:ext uri="{FF2B5EF4-FFF2-40B4-BE49-F238E27FC236}">
                <a16:creationId xmlns:a16="http://schemas.microsoft.com/office/drawing/2014/main" id="{ED6526D1-84A8-38BC-8DF1-DFE5214CAEE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101" y="2743200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202;p18">
            <a:extLst>
              <a:ext uri="{FF2B5EF4-FFF2-40B4-BE49-F238E27FC236}">
                <a16:creationId xmlns:a16="http://schemas.microsoft.com/office/drawing/2014/main" id="{0D605229-1C97-B838-5CC9-E897B8EA01A2}"/>
              </a:ext>
            </a:extLst>
          </p:cNvPr>
          <p:cNvSpPr txBox="1"/>
          <p:nvPr/>
        </p:nvSpPr>
        <p:spPr>
          <a:xfrm>
            <a:off x="676275" y="1419225"/>
            <a:ext cx="11381422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47954"/>
                </a:solidFill>
                <a:latin typeface="Poppins"/>
                <a:ea typeface="Poppins"/>
                <a:cs typeface="Poppins"/>
                <a:sym typeface="Poppins"/>
              </a:rPr>
              <a:t>Languages &amp; Frameworks</a:t>
            </a:r>
            <a:endParaRPr dirty="0"/>
          </a:p>
        </p:txBody>
      </p:sp>
      <p:sp>
        <p:nvSpPr>
          <p:cNvPr id="19" name="Google Shape;203;p18">
            <a:extLst>
              <a:ext uri="{FF2B5EF4-FFF2-40B4-BE49-F238E27FC236}">
                <a16:creationId xmlns:a16="http://schemas.microsoft.com/office/drawing/2014/main" id="{ED0B086A-E909-1D16-55AF-DAB35B9D8463}"/>
              </a:ext>
            </a:extLst>
          </p:cNvPr>
          <p:cNvSpPr/>
          <p:nvPr/>
        </p:nvSpPr>
        <p:spPr>
          <a:xfrm>
            <a:off x="676275" y="1266825"/>
            <a:ext cx="10839450" cy="28575"/>
          </a:xfrm>
          <a:prstGeom prst="rect">
            <a:avLst/>
          </a:prstGeom>
          <a:solidFill>
            <a:srgbClr val="D7B1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110;p1">
            <a:extLst>
              <a:ext uri="{FF2B5EF4-FFF2-40B4-BE49-F238E27FC236}">
                <a16:creationId xmlns:a16="http://schemas.microsoft.com/office/drawing/2014/main" id="{FE11E744-5322-80A9-52B0-ABD067F81139}"/>
              </a:ext>
            </a:extLst>
          </p:cNvPr>
          <p:cNvPicPr preferRelativeResize="0"/>
          <p:nvPr/>
        </p:nvPicPr>
        <p:blipFill>
          <a:blip r:embed="rId8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3;p12">
            <a:extLst>
              <a:ext uri="{FF2B5EF4-FFF2-40B4-BE49-F238E27FC236}">
                <a16:creationId xmlns:a16="http://schemas.microsoft.com/office/drawing/2014/main" id="{E44170EB-08F2-D562-9560-D3B754FA38F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</a:t>
            </a:r>
            <a:r>
              <a:rPr lang="ar-SA" dirty="0"/>
              <a:t>1</a:t>
            </a:r>
            <a:r>
              <a:rPr lang="en-US" dirty="0"/>
              <a:t> / </a:t>
            </a:r>
            <a:r>
              <a:rPr lang="ar-SA" dirty="0"/>
              <a:t>30</a:t>
            </a:r>
            <a:r>
              <a:rPr lang="en-US" dirty="0"/>
              <a:t> / 2</a:t>
            </a:r>
            <a:r>
              <a:rPr lang="ar-SA" dirty="0"/>
              <a:t>5</a:t>
            </a:r>
            <a:endParaRPr dirty="0"/>
          </a:p>
        </p:txBody>
      </p:sp>
      <p:pic>
        <p:nvPicPr>
          <p:cNvPr id="24" name="Picture 23" descr="A green and white logo&#10;&#10;AI-generated content may be incorrect.">
            <a:extLst>
              <a:ext uri="{FF2B5EF4-FFF2-40B4-BE49-F238E27FC236}">
                <a16:creationId xmlns:a16="http://schemas.microsoft.com/office/drawing/2014/main" id="{7F5D309D-49A6-6685-E1E5-00ADC370719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36645" y="2638232"/>
            <a:ext cx="735260" cy="64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28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6C2DC-F3F7-5CAF-8A8D-1CE20A32CA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5" name="Google Shape;110;p1">
            <a:extLst>
              <a:ext uri="{FF2B5EF4-FFF2-40B4-BE49-F238E27FC236}">
                <a16:creationId xmlns:a16="http://schemas.microsoft.com/office/drawing/2014/main" id="{F7E44D7F-96B4-1247-02DD-D31E5B670677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11;p19">
            <a:extLst>
              <a:ext uri="{FF2B5EF4-FFF2-40B4-BE49-F238E27FC236}">
                <a16:creationId xmlns:a16="http://schemas.microsoft.com/office/drawing/2014/main" id="{CBF29FD3-8DDF-A152-9F01-B91D551F7991}"/>
              </a:ext>
            </a:extLst>
          </p:cNvPr>
          <p:cNvSpPr txBox="1"/>
          <p:nvPr/>
        </p:nvSpPr>
        <p:spPr>
          <a:xfrm>
            <a:off x="6290603" y="1928812"/>
            <a:ext cx="544068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336EA8"/>
                </a:solidFill>
                <a:latin typeface="Poppins"/>
                <a:ea typeface="Poppins"/>
                <a:cs typeface="Poppins"/>
                <a:sym typeface="Poppins"/>
              </a:rPr>
              <a:t>Current State: Beta</a:t>
            </a:r>
            <a:endParaRPr dirty="0"/>
          </a:p>
        </p:txBody>
      </p:sp>
      <p:sp>
        <p:nvSpPr>
          <p:cNvPr id="11" name="Google Shape;212;p19">
            <a:extLst>
              <a:ext uri="{FF2B5EF4-FFF2-40B4-BE49-F238E27FC236}">
                <a16:creationId xmlns:a16="http://schemas.microsoft.com/office/drawing/2014/main" id="{A39D826C-9AFC-004B-9117-A7FF003E3907}"/>
              </a:ext>
            </a:extLst>
          </p:cNvPr>
          <p:cNvSpPr txBox="1"/>
          <p:nvPr/>
        </p:nvSpPr>
        <p:spPr>
          <a:xfrm>
            <a:off x="6334125" y="2209800"/>
            <a:ext cx="5181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The pipeline is fully operational, successfully ingesting and displaying live data.</a:t>
            </a:r>
            <a:endParaRPr dirty="0"/>
          </a:p>
        </p:txBody>
      </p:sp>
      <p:sp>
        <p:nvSpPr>
          <p:cNvPr id="12" name="Google Shape;213;p19">
            <a:extLst>
              <a:ext uri="{FF2B5EF4-FFF2-40B4-BE49-F238E27FC236}">
                <a16:creationId xmlns:a16="http://schemas.microsoft.com/office/drawing/2014/main" id="{1F6D61E2-D317-3164-9586-C1BAA548763F}"/>
              </a:ext>
            </a:extLst>
          </p:cNvPr>
          <p:cNvSpPr txBox="1"/>
          <p:nvPr/>
        </p:nvSpPr>
        <p:spPr>
          <a:xfrm>
            <a:off x="6334125" y="3009900"/>
            <a:ext cx="544068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336EA8"/>
                </a:solidFill>
                <a:latin typeface="Poppins"/>
                <a:ea typeface="Poppins"/>
                <a:cs typeface="Poppins"/>
                <a:sym typeface="Poppins"/>
              </a:rPr>
              <a:t>Testing Phases</a:t>
            </a:r>
            <a:endParaRPr/>
          </a:p>
        </p:txBody>
      </p:sp>
      <p:sp>
        <p:nvSpPr>
          <p:cNvPr id="13" name="Google Shape;214;p19">
            <a:extLst>
              <a:ext uri="{FF2B5EF4-FFF2-40B4-BE49-F238E27FC236}">
                <a16:creationId xmlns:a16="http://schemas.microsoft.com/office/drawing/2014/main" id="{DC94F50E-ABD4-670D-D91B-B3F7DB701FF2}"/>
              </a:ext>
            </a:extLst>
          </p:cNvPr>
          <p:cNvSpPr txBox="1"/>
          <p:nvPr/>
        </p:nvSpPr>
        <p:spPr>
          <a:xfrm>
            <a:off x="7096125" y="3676650"/>
            <a:ext cx="44196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Unit Testing: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Validated the Python generator script to ensure realistic data ranges.</a:t>
            </a:r>
            <a:endParaRPr dirty="0"/>
          </a:p>
        </p:txBody>
      </p:sp>
      <p:sp>
        <p:nvSpPr>
          <p:cNvPr id="14" name="Google Shape;215;p19">
            <a:extLst>
              <a:ext uri="{FF2B5EF4-FFF2-40B4-BE49-F238E27FC236}">
                <a16:creationId xmlns:a16="http://schemas.microsoft.com/office/drawing/2014/main" id="{A4FB2610-840E-BE03-1BBA-89A9EE3921B6}"/>
              </a:ext>
            </a:extLst>
          </p:cNvPr>
          <p:cNvSpPr/>
          <p:nvPr/>
        </p:nvSpPr>
        <p:spPr>
          <a:xfrm>
            <a:off x="6715125" y="4429125"/>
            <a:ext cx="48006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216;p19">
            <a:extLst>
              <a:ext uri="{FF2B5EF4-FFF2-40B4-BE49-F238E27FC236}">
                <a16:creationId xmlns:a16="http://schemas.microsoft.com/office/drawing/2014/main" id="{FC8F79E2-258A-1667-C203-D5FDC217FF28}"/>
              </a:ext>
            </a:extLst>
          </p:cNvPr>
          <p:cNvSpPr txBox="1"/>
          <p:nvPr/>
        </p:nvSpPr>
        <p:spPr>
          <a:xfrm>
            <a:off x="7096125" y="4581525"/>
            <a:ext cx="44196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Integration Testing: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Verified data flow from Event Hubs to Stream Analytics without loss.</a:t>
            </a:r>
            <a:endParaRPr dirty="0"/>
          </a:p>
        </p:txBody>
      </p:sp>
      <p:sp>
        <p:nvSpPr>
          <p:cNvPr id="16" name="Google Shape;217;p19">
            <a:extLst>
              <a:ext uri="{FF2B5EF4-FFF2-40B4-BE49-F238E27FC236}">
                <a16:creationId xmlns:a16="http://schemas.microsoft.com/office/drawing/2014/main" id="{664CDBF7-DC11-7A11-AB7A-12358AE5E5B1}"/>
              </a:ext>
            </a:extLst>
          </p:cNvPr>
          <p:cNvSpPr/>
          <p:nvPr/>
        </p:nvSpPr>
        <p:spPr>
          <a:xfrm>
            <a:off x="6715125" y="5334000"/>
            <a:ext cx="48006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218;p19">
            <a:extLst>
              <a:ext uri="{FF2B5EF4-FFF2-40B4-BE49-F238E27FC236}">
                <a16:creationId xmlns:a16="http://schemas.microsoft.com/office/drawing/2014/main" id="{F0B925E1-824F-5DAF-6B2F-F0577B76563C}"/>
              </a:ext>
            </a:extLst>
          </p:cNvPr>
          <p:cNvSpPr txBox="1"/>
          <p:nvPr/>
        </p:nvSpPr>
        <p:spPr>
          <a:xfrm>
            <a:off x="7096125" y="5486400"/>
            <a:ext cx="44196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Latency Testing: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Confirmed dashboard updates within 2 seconds of real-time events.</a:t>
            </a:r>
            <a:endParaRPr/>
          </a:p>
        </p:txBody>
      </p:sp>
      <p:sp>
        <p:nvSpPr>
          <p:cNvPr id="18" name="Google Shape;219;p19">
            <a:extLst>
              <a:ext uri="{FF2B5EF4-FFF2-40B4-BE49-F238E27FC236}">
                <a16:creationId xmlns:a16="http://schemas.microsoft.com/office/drawing/2014/main" id="{B6D5C3D2-C84D-D372-3331-8E738A68EBE8}"/>
              </a:ext>
            </a:extLst>
          </p:cNvPr>
          <p:cNvSpPr/>
          <p:nvPr/>
        </p:nvSpPr>
        <p:spPr>
          <a:xfrm>
            <a:off x="6715125" y="6238875"/>
            <a:ext cx="48006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220;p19">
            <a:extLst>
              <a:ext uri="{FF2B5EF4-FFF2-40B4-BE49-F238E27FC236}">
                <a16:creationId xmlns:a16="http://schemas.microsoft.com/office/drawing/2014/main" id="{8BBA8ADE-1CF0-522B-D113-83F659C18F14}"/>
              </a:ext>
            </a:extLst>
          </p:cNvPr>
          <p:cNvSpPr txBox="1"/>
          <p:nvPr/>
        </p:nvSpPr>
        <p:spPr>
          <a:xfrm>
            <a:off x="6810375" y="3581400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D7B11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" name="Google Shape;221;p19">
            <a:extLst>
              <a:ext uri="{FF2B5EF4-FFF2-40B4-BE49-F238E27FC236}">
                <a16:creationId xmlns:a16="http://schemas.microsoft.com/office/drawing/2014/main" id="{3A9484AE-09DD-4B1A-DE18-0C16FB0E24E6}"/>
              </a:ext>
            </a:extLst>
          </p:cNvPr>
          <p:cNvSpPr/>
          <p:nvPr/>
        </p:nvSpPr>
        <p:spPr>
          <a:xfrm>
            <a:off x="6715125" y="4429125"/>
            <a:ext cx="48006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22;p19">
            <a:extLst>
              <a:ext uri="{FF2B5EF4-FFF2-40B4-BE49-F238E27FC236}">
                <a16:creationId xmlns:a16="http://schemas.microsoft.com/office/drawing/2014/main" id="{77FEA9F2-F692-498A-1B98-FFF69C03FA97}"/>
              </a:ext>
            </a:extLst>
          </p:cNvPr>
          <p:cNvSpPr txBox="1"/>
          <p:nvPr/>
        </p:nvSpPr>
        <p:spPr>
          <a:xfrm>
            <a:off x="6810375" y="4486275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D7B11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" name="Google Shape;223;p19">
            <a:extLst>
              <a:ext uri="{FF2B5EF4-FFF2-40B4-BE49-F238E27FC236}">
                <a16:creationId xmlns:a16="http://schemas.microsoft.com/office/drawing/2014/main" id="{FA1CF302-EC63-FEE8-0D5E-4E78074D4771}"/>
              </a:ext>
            </a:extLst>
          </p:cNvPr>
          <p:cNvSpPr/>
          <p:nvPr/>
        </p:nvSpPr>
        <p:spPr>
          <a:xfrm>
            <a:off x="6715125" y="5334000"/>
            <a:ext cx="48006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24;p19">
            <a:extLst>
              <a:ext uri="{FF2B5EF4-FFF2-40B4-BE49-F238E27FC236}">
                <a16:creationId xmlns:a16="http://schemas.microsoft.com/office/drawing/2014/main" id="{2CC49367-4359-6A37-851B-30B26AFB04B0}"/>
              </a:ext>
            </a:extLst>
          </p:cNvPr>
          <p:cNvSpPr txBox="1"/>
          <p:nvPr/>
        </p:nvSpPr>
        <p:spPr>
          <a:xfrm>
            <a:off x="6810375" y="5391150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D7B11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" name="Google Shape;225;p19">
            <a:extLst>
              <a:ext uri="{FF2B5EF4-FFF2-40B4-BE49-F238E27FC236}">
                <a16:creationId xmlns:a16="http://schemas.microsoft.com/office/drawing/2014/main" id="{2860C081-EEC5-F26D-0211-115F837A0A28}"/>
              </a:ext>
            </a:extLst>
          </p:cNvPr>
          <p:cNvSpPr/>
          <p:nvPr/>
        </p:nvSpPr>
        <p:spPr>
          <a:xfrm>
            <a:off x="6715125" y="6238875"/>
            <a:ext cx="48006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26;p19">
            <a:extLst>
              <a:ext uri="{FF2B5EF4-FFF2-40B4-BE49-F238E27FC236}">
                <a16:creationId xmlns:a16="http://schemas.microsoft.com/office/drawing/2014/main" id="{18F37248-C2AD-B181-6E4F-4404F319A0E2}"/>
              </a:ext>
            </a:extLst>
          </p:cNvPr>
          <p:cNvSpPr txBox="1"/>
          <p:nvPr/>
        </p:nvSpPr>
        <p:spPr>
          <a:xfrm>
            <a:off x="676275" y="1366678"/>
            <a:ext cx="1138142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47954"/>
                </a:solidFill>
                <a:latin typeface="Poppins"/>
                <a:ea typeface="Poppins"/>
                <a:cs typeface="Poppins"/>
                <a:sym typeface="Poppins"/>
              </a:rPr>
              <a:t>Live Application &amp; Testing</a:t>
            </a:r>
            <a:endParaRPr sz="1200" dirty="0"/>
          </a:p>
        </p:txBody>
      </p:sp>
      <p:sp>
        <p:nvSpPr>
          <p:cNvPr id="26" name="Google Shape;227;p19">
            <a:extLst>
              <a:ext uri="{FF2B5EF4-FFF2-40B4-BE49-F238E27FC236}">
                <a16:creationId xmlns:a16="http://schemas.microsoft.com/office/drawing/2014/main" id="{FAF1DAB8-9E1A-DDA5-DBB0-37C6704BD739}"/>
              </a:ext>
            </a:extLst>
          </p:cNvPr>
          <p:cNvSpPr/>
          <p:nvPr/>
        </p:nvSpPr>
        <p:spPr>
          <a:xfrm>
            <a:off x="676275" y="1238250"/>
            <a:ext cx="10839450" cy="28575"/>
          </a:xfrm>
          <a:prstGeom prst="rect">
            <a:avLst/>
          </a:prstGeom>
          <a:solidFill>
            <a:srgbClr val="D7B1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23;p12">
            <a:extLst>
              <a:ext uri="{FF2B5EF4-FFF2-40B4-BE49-F238E27FC236}">
                <a16:creationId xmlns:a16="http://schemas.microsoft.com/office/drawing/2014/main" id="{88CC0868-901A-2F80-9651-2DFC0E3EA1C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</a:t>
            </a:r>
            <a:r>
              <a:rPr lang="ar-SA" dirty="0"/>
              <a:t>1</a:t>
            </a:r>
            <a:r>
              <a:rPr lang="en-US" dirty="0"/>
              <a:t> / </a:t>
            </a:r>
            <a:r>
              <a:rPr lang="ar-SA" dirty="0"/>
              <a:t>30</a:t>
            </a:r>
            <a:r>
              <a:rPr lang="en-US" dirty="0"/>
              <a:t> / 2</a:t>
            </a:r>
            <a:r>
              <a:rPr lang="ar-SA" dirty="0"/>
              <a:t>5</a:t>
            </a:r>
            <a:endParaRPr dirty="0"/>
          </a:p>
        </p:txBody>
      </p:sp>
      <p:pic>
        <p:nvPicPr>
          <p:cNvPr id="29" name="Picture 28" descr="A computer screen with colorful text&#10;&#10;AI-generated content may be incorrect.">
            <a:extLst>
              <a:ext uri="{FF2B5EF4-FFF2-40B4-BE49-F238E27FC236}">
                <a16:creationId xmlns:a16="http://schemas.microsoft.com/office/drawing/2014/main" id="{FDC902C3-1A73-93BC-87DE-1EE7D75DBA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285" b="9652"/>
          <a:stretch>
            <a:fillRect/>
          </a:stretch>
        </p:blipFill>
        <p:spPr>
          <a:xfrm>
            <a:off x="676275" y="2279650"/>
            <a:ext cx="5419725" cy="360695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165839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C4A53-76ED-15A4-A5E9-51E9B86552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Google Shape;233;p20" descr="image.png">
            <a:extLst>
              <a:ext uri="{FF2B5EF4-FFF2-40B4-BE49-F238E27FC236}">
                <a16:creationId xmlns:a16="http://schemas.microsoft.com/office/drawing/2014/main" id="{D0713266-4CDF-2FD7-D294-1E57DFD3CB8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18307" y="2224087"/>
            <a:ext cx="238125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34;p20" descr="image.png">
            <a:extLst>
              <a:ext uri="{FF2B5EF4-FFF2-40B4-BE49-F238E27FC236}">
                <a16:creationId xmlns:a16="http://schemas.microsoft.com/office/drawing/2014/main" id="{5CA3F3A9-D07E-CF0F-5246-759C00FA0DD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05375" y="2224087"/>
            <a:ext cx="238125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35;p20" descr="image.png">
            <a:extLst>
              <a:ext uri="{FF2B5EF4-FFF2-40B4-BE49-F238E27FC236}">
                <a16:creationId xmlns:a16="http://schemas.microsoft.com/office/drawing/2014/main" id="{4F7DF669-D186-BE05-87D1-B2E5D851E62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92442" y="2224087"/>
            <a:ext cx="2381250" cy="272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37;p20">
            <a:extLst>
              <a:ext uri="{FF2B5EF4-FFF2-40B4-BE49-F238E27FC236}">
                <a16:creationId xmlns:a16="http://schemas.microsoft.com/office/drawing/2014/main" id="{675C5D8D-7578-D0C2-AAE8-88A01C7D6DF8}"/>
              </a:ext>
            </a:extLst>
          </p:cNvPr>
          <p:cNvSpPr txBox="1"/>
          <p:nvPr/>
        </p:nvSpPr>
        <p:spPr>
          <a:xfrm>
            <a:off x="676275" y="5710237"/>
            <a:ext cx="10839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Additional Outputs: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Technical Architecture Document, User Manual, GitHub Repository.</a:t>
            </a:r>
            <a:endParaRPr dirty="0"/>
          </a:p>
        </p:txBody>
      </p:sp>
      <p:sp>
        <p:nvSpPr>
          <p:cNvPr id="11" name="Google Shape;238;p20">
            <a:extLst>
              <a:ext uri="{FF2B5EF4-FFF2-40B4-BE49-F238E27FC236}">
                <a16:creationId xmlns:a16="http://schemas.microsoft.com/office/drawing/2014/main" id="{32345337-4D62-6AA7-23A3-A1A8D7C244C4}"/>
              </a:ext>
            </a:extLst>
          </p:cNvPr>
          <p:cNvSpPr/>
          <p:nvPr/>
        </p:nvSpPr>
        <p:spPr>
          <a:xfrm>
            <a:off x="2313682" y="2414587"/>
            <a:ext cx="190500" cy="190500"/>
          </a:xfrm>
          <a:prstGeom prst="roundRect">
            <a:avLst>
              <a:gd name="adj" fmla="val 16667"/>
            </a:avLst>
          </a:prstGeom>
          <a:solidFill>
            <a:srgbClr val="D7B1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239;p20">
            <a:extLst>
              <a:ext uri="{FF2B5EF4-FFF2-40B4-BE49-F238E27FC236}">
                <a16:creationId xmlns:a16="http://schemas.microsoft.com/office/drawing/2014/main" id="{2A97C0DE-AEA2-708C-4471-C81C881400E9}"/>
              </a:ext>
            </a:extLst>
          </p:cNvPr>
          <p:cNvSpPr txBox="1"/>
          <p:nvPr/>
        </p:nvSpPr>
        <p:spPr>
          <a:xfrm>
            <a:off x="1358800" y="2747962"/>
            <a:ext cx="210026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336EA8"/>
                </a:solidFill>
                <a:latin typeface="Poppins"/>
                <a:ea typeface="Poppins"/>
                <a:cs typeface="Poppins"/>
                <a:sym typeface="Poppins"/>
              </a:rPr>
              <a:t>Milestone 1</a:t>
            </a:r>
            <a:endParaRPr/>
          </a:p>
        </p:txBody>
      </p:sp>
      <p:sp>
        <p:nvSpPr>
          <p:cNvPr id="13" name="Google Shape;240;p20">
            <a:extLst>
              <a:ext uri="{FF2B5EF4-FFF2-40B4-BE49-F238E27FC236}">
                <a16:creationId xmlns:a16="http://schemas.microsoft.com/office/drawing/2014/main" id="{D0BA13F8-65B3-2F06-9C30-6E85D5CDB5EA}"/>
              </a:ext>
            </a:extLst>
          </p:cNvPr>
          <p:cNvSpPr txBox="1"/>
          <p:nvPr/>
        </p:nvSpPr>
        <p:spPr>
          <a:xfrm>
            <a:off x="1408807" y="3309937"/>
            <a:ext cx="20002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Data Ingestion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Python Script &amp; Event Hub Setup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ar-SA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13 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/10 )</a:t>
            </a:r>
            <a:endParaRPr dirty="0"/>
          </a:p>
        </p:txBody>
      </p:sp>
      <p:sp>
        <p:nvSpPr>
          <p:cNvPr id="14" name="Google Shape;241;p20">
            <a:extLst>
              <a:ext uri="{FF2B5EF4-FFF2-40B4-BE49-F238E27FC236}">
                <a16:creationId xmlns:a16="http://schemas.microsoft.com/office/drawing/2014/main" id="{18F91C7D-876B-AE2A-D8E1-61B75C49FD3F}"/>
              </a:ext>
            </a:extLst>
          </p:cNvPr>
          <p:cNvSpPr/>
          <p:nvPr/>
        </p:nvSpPr>
        <p:spPr>
          <a:xfrm>
            <a:off x="6000750" y="2414587"/>
            <a:ext cx="190500" cy="190500"/>
          </a:xfrm>
          <a:prstGeom prst="roundRect">
            <a:avLst>
              <a:gd name="adj" fmla="val 16667"/>
            </a:avLst>
          </a:prstGeom>
          <a:solidFill>
            <a:srgbClr val="D7B1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242;p20">
            <a:extLst>
              <a:ext uri="{FF2B5EF4-FFF2-40B4-BE49-F238E27FC236}">
                <a16:creationId xmlns:a16="http://schemas.microsoft.com/office/drawing/2014/main" id="{119733BF-3F2D-B21B-8A48-3488E65F3C59}"/>
              </a:ext>
            </a:extLst>
          </p:cNvPr>
          <p:cNvSpPr txBox="1"/>
          <p:nvPr/>
        </p:nvSpPr>
        <p:spPr>
          <a:xfrm>
            <a:off x="5045868" y="2747962"/>
            <a:ext cx="210026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336EA8"/>
                </a:solidFill>
                <a:latin typeface="Poppins"/>
                <a:ea typeface="Poppins"/>
                <a:cs typeface="Poppins"/>
                <a:sym typeface="Poppins"/>
              </a:rPr>
              <a:t>Milestone 2</a:t>
            </a:r>
            <a:endParaRPr/>
          </a:p>
        </p:txBody>
      </p:sp>
      <p:sp>
        <p:nvSpPr>
          <p:cNvPr id="16" name="Google Shape;243;p20">
            <a:extLst>
              <a:ext uri="{FF2B5EF4-FFF2-40B4-BE49-F238E27FC236}">
                <a16:creationId xmlns:a16="http://schemas.microsoft.com/office/drawing/2014/main" id="{B97A6B60-59DD-D535-44B4-15D9D8DB5211}"/>
              </a:ext>
            </a:extLst>
          </p:cNvPr>
          <p:cNvSpPr txBox="1"/>
          <p:nvPr/>
        </p:nvSpPr>
        <p:spPr>
          <a:xfrm>
            <a:off x="5095875" y="3309937"/>
            <a:ext cx="20002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33333"/>
              </a:lnSpc>
            </a:pPr>
            <a:r>
              <a:rPr lang="en-US" sz="1500" b="1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Processing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Stream Analytics Queries &amp; SQL DB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( 20</a:t>
            </a:r>
            <a:r>
              <a:rPr lang="en-US" sz="1500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/10 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dirty="0"/>
          </a:p>
        </p:txBody>
      </p:sp>
      <p:sp>
        <p:nvSpPr>
          <p:cNvPr id="17" name="Google Shape;244;p20">
            <a:extLst>
              <a:ext uri="{FF2B5EF4-FFF2-40B4-BE49-F238E27FC236}">
                <a16:creationId xmlns:a16="http://schemas.microsoft.com/office/drawing/2014/main" id="{1099C63A-8642-2951-DCAF-79218602893C}"/>
              </a:ext>
            </a:extLst>
          </p:cNvPr>
          <p:cNvSpPr/>
          <p:nvPr/>
        </p:nvSpPr>
        <p:spPr>
          <a:xfrm>
            <a:off x="9687817" y="2414587"/>
            <a:ext cx="190500" cy="190500"/>
          </a:xfrm>
          <a:prstGeom prst="roundRect">
            <a:avLst>
              <a:gd name="adj" fmla="val 16667"/>
            </a:avLst>
          </a:prstGeom>
          <a:solidFill>
            <a:srgbClr val="D7B1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245;p20">
            <a:extLst>
              <a:ext uri="{FF2B5EF4-FFF2-40B4-BE49-F238E27FC236}">
                <a16:creationId xmlns:a16="http://schemas.microsoft.com/office/drawing/2014/main" id="{2CA5EB45-F65F-5AD9-0690-C1272E6BD801}"/>
              </a:ext>
            </a:extLst>
          </p:cNvPr>
          <p:cNvSpPr txBox="1"/>
          <p:nvPr/>
        </p:nvSpPr>
        <p:spPr>
          <a:xfrm>
            <a:off x="8732936" y="2747962"/>
            <a:ext cx="210026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336EA8"/>
                </a:solidFill>
                <a:latin typeface="Poppins"/>
                <a:ea typeface="Poppins"/>
                <a:cs typeface="Poppins"/>
                <a:sym typeface="Poppins"/>
              </a:rPr>
              <a:t>Final Product</a:t>
            </a:r>
            <a:endParaRPr/>
          </a:p>
        </p:txBody>
      </p:sp>
      <p:sp>
        <p:nvSpPr>
          <p:cNvPr id="19" name="Google Shape;246;p20">
            <a:extLst>
              <a:ext uri="{FF2B5EF4-FFF2-40B4-BE49-F238E27FC236}">
                <a16:creationId xmlns:a16="http://schemas.microsoft.com/office/drawing/2014/main" id="{79872676-E89D-43CD-7B4A-2CA9718B1723}"/>
              </a:ext>
            </a:extLst>
          </p:cNvPr>
          <p:cNvSpPr txBox="1"/>
          <p:nvPr/>
        </p:nvSpPr>
        <p:spPr>
          <a:xfrm>
            <a:off x="8782942" y="3309937"/>
            <a:ext cx="20002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33333"/>
              </a:lnSpc>
            </a:pPr>
            <a:r>
              <a:rPr lang="en-US" sz="1500" b="1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Visualization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Live Dashboard, Reports &amp; Source Code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( </a:t>
            </a:r>
            <a:r>
              <a:rPr lang="en-US" sz="1500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27/10 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dirty="0"/>
          </a:p>
        </p:txBody>
      </p:sp>
      <p:sp>
        <p:nvSpPr>
          <p:cNvPr id="20" name="Google Shape;247;p20">
            <a:extLst>
              <a:ext uri="{FF2B5EF4-FFF2-40B4-BE49-F238E27FC236}">
                <a16:creationId xmlns:a16="http://schemas.microsoft.com/office/drawing/2014/main" id="{2ED71893-2F0A-566D-58B2-07AB2EA82C18}"/>
              </a:ext>
            </a:extLst>
          </p:cNvPr>
          <p:cNvSpPr txBox="1"/>
          <p:nvPr/>
        </p:nvSpPr>
        <p:spPr>
          <a:xfrm>
            <a:off x="676275" y="1414462"/>
            <a:ext cx="11381422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47954"/>
                </a:solidFill>
                <a:latin typeface="Poppins"/>
                <a:ea typeface="Poppins"/>
                <a:cs typeface="Poppins"/>
                <a:sym typeface="Poppins"/>
              </a:rPr>
              <a:t>Deliverables &amp; Timeline</a:t>
            </a:r>
            <a:endParaRPr dirty="0"/>
          </a:p>
        </p:txBody>
      </p:sp>
      <p:sp>
        <p:nvSpPr>
          <p:cNvPr id="21" name="Google Shape;248;p20">
            <a:extLst>
              <a:ext uri="{FF2B5EF4-FFF2-40B4-BE49-F238E27FC236}">
                <a16:creationId xmlns:a16="http://schemas.microsoft.com/office/drawing/2014/main" id="{3DFDFDBC-E77A-C07D-762A-6BE02F43B65E}"/>
              </a:ext>
            </a:extLst>
          </p:cNvPr>
          <p:cNvSpPr/>
          <p:nvPr/>
        </p:nvSpPr>
        <p:spPr>
          <a:xfrm>
            <a:off x="676275" y="1266825"/>
            <a:ext cx="10839450" cy="28575"/>
          </a:xfrm>
          <a:prstGeom prst="rect">
            <a:avLst/>
          </a:prstGeom>
          <a:solidFill>
            <a:srgbClr val="D7B1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23;p12">
            <a:extLst>
              <a:ext uri="{FF2B5EF4-FFF2-40B4-BE49-F238E27FC236}">
                <a16:creationId xmlns:a16="http://schemas.microsoft.com/office/drawing/2014/main" id="{22104C62-AD6E-B68A-4215-911C6C58289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</a:t>
            </a:r>
            <a:r>
              <a:rPr lang="ar-SA" dirty="0"/>
              <a:t>1</a:t>
            </a:r>
            <a:r>
              <a:rPr lang="en-US" dirty="0"/>
              <a:t> / </a:t>
            </a:r>
            <a:r>
              <a:rPr lang="ar-SA" dirty="0"/>
              <a:t>30</a:t>
            </a:r>
            <a:r>
              <a:rPr lang="en-US" dirty="0"/>
              <a:t> / 2</a:t>
            </a:r>
            <a:r>
              <a:rPr lang="ar-SA" dirty="0"/>
              <a:t>5</a:t>
            </a:r>
            <a:endParaRPr dirty="0"/>
          </a:p>
        </p:txBody>
      </p:sp>
      <p:pic>
        <p:nvPicPr>
          <p:cNvPr id="24" name="Google Shape;110;p1">
            <a:extLst>
              <a:ext uri="{FF2B5EF4-FFF2-40B4-BE49-F238E27FC236}">
                <a16:creationId xmlns:a16="http://schemas.microsoft.com/office/drawing/2014/main" id="{27969E3F-013F-5817-8929-1983ED61A0FC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668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46F3E-195A-0BBD-8A0F-1D491744D9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9" name="Google Shape;257;p21">
            <a:extLst>
              <a:ext uri="{FF2B5EF4-FFF2-40B4-BE49-F238E27FC236}">
                <a16:creationId xmlns:a16="http://schemas.microsoft.com/office/drawing/2014/main" id="{DF8DE208-CF24-2C61-DBCC-27A2C99A5B64}"/>
              </a:ext>
            </a:extLst>
          </p:cNvPr>
          <p:cNvSpPr txBox="1"/>
          <p:nvPr/>
        </p:nvSpPr>
        <p:spPr>
          <a:xfrm>
            <a:off x="674805" y="5591175"/>
            <a:ext cx="10839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Collaboration Tools:</a:t>
            </a:r>
            <a:r>
              <a:rPr lang="ar-SA" sz="1500" b="0" i="1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1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GitHub, WhatsApp</a:t>
            </a:r>
            <a:endParaRPr dirty="0"/>
          </a:p>
        </p:txBody>
      </p:sp>
      <p:pic>
        <p:nvPicPr>
          <p:cNvPr id="10" name="Google Shape;258;p21" descr="image.png">
            <a:extLst>
              <a:ext uri="{FF2B5EF4-FFF2-40B4-BE49-F238E27FC236}">
                <a16:creationId xmlns:a16="http://schemas.microsoft.com/office/drawing/2014/main" id="{6B649EEB-C26F-8D0E-7D9E-F85D1D49854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3968" y="2120813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262;p21" descr="image.png">
            <a:extLst>
              <a:ext uri="{FF2B5EF4-FFF2-40B4-BE49-F238E27FC236}">
                <a16:creationId xmlns:a16="http://schemas.microsoft.com/office/drawing/2014/main" id="{7F17808D-64FE-3375-EC22-276981166A6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1118" y="3715806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266;p21" descr="image.png">
            <a:extLst>
              <a:ext uri="{FF2B5EF4-FFF2-40B4-BE49-F238E27FC236}">
                <a16:creationId xmlns:a16="http://schemas.microsoft.com/office/drawing/2014/main" id="{05C78217-FE7F-C241-FEE2-D4937333BDC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3018" y="4700231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70;p21">
            <a:extLst>
              <a:ext uri="{FF2B5EF4-FFF2-40B4-BE49-F238E27FC236}">
                <a16:creationId xmlns:a16="http://schemas.microsoft.com/office/drawing/2014/main" id="{F5A8DC31-C39D-F482-1BB0-82A4B7B41FB3}"/>
              </a:ext>
            </a:extLst>
          </p:cNvPr>
          <p:cNvSpPr txBox="1"/>
          <p:nvPr/>
        </p:nvSpPr>
        <p:spPr>
          <a:xfrm>
            <a:off x="674805" y="1412084"/>
            <a:ext cx="501941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47954"/>
                </a:solidFill>
                <a:latin typeface="Poppins"/>
                <a:ea typeface="Poppins"/>
                <a:cs typeface="Poppins"/>
                <a:sym typeface="Poppins"/>
              </a:rPr>
              <a:t>Project Team</a:t>
            </a:r>
            <a:endParaRPr dirty="0"/>
          </a:p>
        </p:txBody>
      </p:sp>
      <p:sp>
        <p:nvSpPr>
          <p:cNvPr id="23" name="Google Shape;271;p21">
            <a:extLst>
              <a:ext uri="{FF2B5EF4-FFF2-40B4-BE49-F238E27FC236}">
                <a16:creationId xmlns:a16="http://schemas.microsoft.com/office/drawing/2014/main" id="{16FAF0E0-5F2C-91DE-306B-97A8586905B3}"/>
              </a:ext>
            </a:extLst>
          </p:cNvPr>
          <p:cNvSpPr/>
          <p:nvPr/>
        </p:nvSpPr>
        <p:spPr>
          <a:xfrm>
            <a:off x="676275" y="1266825"/>
            <a:ext cx="10839450" cy="28575"/>
          </a:xfrm>
          <a:prstGeom prst="rect">
            <a:avLst/>
          </a:prstGeom>
          <a:solidFill>
            <a:srgbClr val="D7B1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23;p12">
            <a:extLst>
              <a:ext uri="{FF2B5EF4-FFF2-40B4-BE49-F238E27FC236}">
                <a16:creationId xmlns:a16="http://schemas.microsoft.com/office/drawing/2014/main" id="{01EA4110-16DF-567A-30B4-6FE37669A24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</a:t>
            </a:r>
            <a:r>
              <a:rPr lang="ar-SA" dirty="0"/>
              <a:t>1</a:t>
            </a:r>
            <a:r>
              <a:rPr lang="en-US" dirty="0"/>
              <a:t> / </a:t>
            </a:r>
            <a:r>
              <a:rPr lang="ar-SA" dirty="0"/>
              <a:t>30</a:t>
            </a:r>
            <a:r>
              <a:rPr lang="en-US" dirty="0"/>
              <a:t> / 2</a:t>
            </a:r>
            <a:r>
              <a:rPr lang="ar-SA" dirty="0"/>
              <a:t>5</a:t>
            </a:r>
            <a:endParaRPr dirty="0"/>
          </a:p>
        </p:txBody>
      </p:sp>
      <p:pic>
        <p:nvPicPr>
          <p:cNvPr id="26" name="Google Shape;110;p1">
            <a:extLst>
              <a:ext uri="{FF2B5EF4-FFF2-40B4-BE49-F238E27FC236}">
                <a16:creationId xmlns:a16="http://schemas.microsoft.com/office/drawing/2014/main" id="{F91A19E5-2A3D-CC55-7A94-FA58DD45B82E}"/>
              </a:ext>
            </a:extLst>
          </p:cNvPr>
          <p:cNvPicPr preferRelativeResize="0"/>
          <p:nvPr/>
        </p:nvPicPr>
        <p:blipFill>
          <a:blip r:embed="rId5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70;p21">
            <a:extLst>
              <a:ext uri="{FF2B5EF4-FFF2-40B4-BE49-F238E27FC236}">
                <a16:creationId xmlns:a16="http://schemas.microsoft.com/office/drawing/2014/main" id="{4D7C18E4-A1D6-9A0F-37B9-66D9E7E31627}"/>
              </a:ext>
            </a:extLst>
          </p:cNvPr>
          <p:cNvSpPr txBox="1"/>
          <p:nvPr/>
        </p:nvSpPr>
        <p:spPr>
          <a:xfrm>
            <a:off x="1281392" y="1931118"/>
            <a:ext cx="10607332" cy="4832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7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Abdalla Nasser Bekhit Abdalla Ewida: </a:t>
            </a:r>
            <a: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Team Leader , </a:t>
            </a:r>
            <a:r>
              <a:rPr lang="en-US" sz="1800" dirty="0"/>
              <a:t>Technical Team Lead</a:t>
            </a:r>
          </a:p>
          <a:p>
            <a:endParaRPr lang="en-US" sz="17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700" b="1" dirty="0"/>
              <a:t>Nour Hassan Hamdy Gamil: </a:t>
            </a:r>
            <a: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Simulation &amp; Python Integration</a:t>
            </a:r>
            <a:endParaRPr lang="en-US" sz="1700" dirty="0"/>
          </a:p>
          <a:p>
            <a:endParaRPr lang="en-US" sz="1700" dirty="0"/>
          </a:p>
          <a:p>
            <a:r>
              <a:rPr lang="en-US" sz="1700" b="1" dirty="0"/>
              <a:t>Zahran Alaa Sayed Mohammed: </a:t>
            </a:r>
            <a:r>
              <a:rPr lang="en-US" sz="1700" dirty="0"/>
              <a:t>System Testing &amp; Quality Assurance</a:t>
            </a:r>
          </a:p>
          <a:p>
            <a:endParaRPr lang="en-US" sz="1700" dirty="0"/>
          </a:p>
          <a:p>
            <a:r>
              <a:rPr lang="en-US" sz="1700" b="1" dirty="0"/>
              <a:t>Rawan Khaled Mohamed Mustafa: </a:t>
            </a:r>
            <a:r>
              <a:rPr lang="en-US" sz="1700" dirty="0"/>
              <a:t>Data Engineering &amp; SQL Queries </a:t>
            </a:r>
          </a:p>
          <a:p>
            <a:endParaRPr lang="en-US" sz="1700" dirty="0"/>
          </a:p>
          <a:p>
            <a:r>
              <a:rPr lang="en-US" sz="1700" b="1" dirty="0"/>
              <a:t>Sohaila Ahmed Ali </a:t>
            </a:r>
            <a:r>
              <a:rPr lang="en-US" sz="1700" b="1" dirty="0" err="1"/>
              <a:t>Elgmal</a:t>
            </a:r>
            <a:r>
              <a:rPr lang="en-US" sz="1700" b="1" dirty="0"/>
              <a:t>: </a:t>
            </a:r>
            <a:r>
              <a:rPr lang="en-US" sz="1700" dirty="0"/>
              <a:t>Azure Cloud &amp; Pipeline Architect </a:t>
            </a:r>
          </a:p>
          <a:p>
            <a:endParaRPr lang="en-US" sz="1700" dirty="0"/>
          </a:p>
          <a:p>
            <a:r>
              <a:rPr lang="en-US" sz="1700" b="1" dirty="0"/>
              <a:t>Menna Muhammad Ali Eissa: </a:t>
            </a:r>
            <a:r>
              <a:rPr lang="en-US" sz="1700" dirty="0"/>
              <a:t>Visualization Lead - Power BI 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lvl="0"/>
            <a:endParaRPr lang="en-US" sz="3200" dirty="0"/>
          </a:p>
          <a:p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61867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4A4AD5-AE25-0D75-7974-F1DA827A144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2" y="6356350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pic>
        <p:nvPicPr>
          <p:cNvPr id="6" name="Google Shape;277;p22" descr="image.png">
            <a:extLst>
              <a:ext uri="{FF2B5EF4-FFF2-40B4-BE49-F238E27FC236}">
                <a16:creationId xmlns:a16="http://schemas.microsoft.com/office/drawing/2014/main" id="{F4F1FE8D-38A2-225D-60A7-DBD83EC366A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05300" y="3669059"/>
            <a:ext cx="3581400" cy="200769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78;p22">
            <a:extLst>
              <a:ext uri="{FF2B5EF4-FFF2-40B4-BE49-F238E27FC236}">
                <a16:creationId xmlns:a16="http://schemas.microsoft.com/office/drawing/2014/main" id="{126801CE-C1E2-A25C-5889-2C52303DCBA1}"/>
              </a:ext>
            </a:extLst>
          </p:cNvPr>
          <p:cNvSpPr txBox="1"/>
          <p:nvPr/>
        </p:nvSpPr>
        <p:spPr>
          <a:xfrm>
            <a:off x="3760708" y="1181248"/>
            <a:ext cx="467058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47954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/>
          </a:p>
        </p:txBody>
      </p:sp>
      <p:sp>
        <p:nvSpPr>
          <p:cNvPr id="8" name="Google Shape;279;p22">
            <a:extLst>
              <a:ext uri="{FF2B5EF4-FFF2-40B4-BE49-F238E27FC236}">
                <a16:creationId xmlns:a16="http://schemas.microsoft.com/office/drawing/2014/main" id="{0D05C68E-EC06-BE54-5740-F90B4E5EDFA3}"/>
              </a:ext>
            </a:extLst>
          </p:cNvPr>
          <p:cNvSpPr txBox="1"/>
          <p:nvPr/>
        </p:nvSpPr>
        <p:spPr>
          <a:xfrm>
            <a:off x="3871912" y="2400448"/>
            <a:ext cx="44481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6EA8"/>
                </a:solidFill>
                <a:latin typeface="Lato"/>
                <a:ea typeface="Lato"/>
                <a:cs typeface="Lato"/>
                <a:sym typeface="Lato"/>
              </a:rPr>
              <a:t>Any Questions?</a:t>
            </a:r>
            <a:endParaRPr/>
          </a:p>
        </p:txBody>
      </p:sp>
      <p:sp>
        <p:nvSpPr>
          <p:cNvPr id="9" name="Google Shape;280;p22">
            <a:extLst>
              <a:ext uri="{FF2B5EF4-FFF2-40B4-BE49-F238E27FC236}">
                <a16:creationId xmlns:a16="http://schemas.microsoft.com/office/drawing/2014/main" id="{E3C83CEE-0FDD-AF3C-2F12-A03988D8DBA4}"/>
              </a:ext>
            </a:extLst>
          </p:cNvPr>
          <p:cNvSpPr txBox="1"/>
          <p:nvPr/>
        </p:nvSpPr>
        <p:spPr>
          <a:xfrm>
            <a:off x="4762500" y="4165681"/>
            <a:ext cx="299085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47954"/>
                </a:solidFill>
                <a:latin typeface="Lato"/>
                <a:ea typeface="Lato"/>
                <a:cs typeface="Lato"/>
                <a:sym typeface="Lato"/>
              </a:rPr>
              <a:t> abdallanasser050@gmail.com</a:t>
            </a:r>
            <a:endParaRPr sz="1200" dirty="0"/>
          </a:p>
        </p:txBody>
      </p:sp>
      <p:sp>
        <p:nvSpPr>
          <p:cNvPr id="10" name="Google Shape;281;p22">
            <a:extLst>
              <a:ext uri="{FF2B5EF4-FFF2-40B4-BE49-F238E27FC236}">
                <a16:creationId xmlns:a16="http://schemas.microsoft.com/office/drawing/2014/main" id="{036BB5F7-290F-488F-DD66-46AB133FE296}"/>
              </a:ext>
            </a:extLst>
          </p:cNvPr>
          <p:cNvSpPr txBox="1"/>
          <p:nvPr/>
        </p:nvSpPr>
        <p:spPr>
          <a:xfrm>
            <a:off x="4600575" y="4780204"/>
            <a:ext cx="29908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lvl="0" algn="ctr">
              <a:lnSpc>
                <a:spcPct val="159944"/>
              </a:lnSpc>
            </a:pPr>
            <a:r>
              <a:rPr lang="en-US" sz="1000" dirty="0">
                <a:solidFill>
                  <a:srgbClr val="047954"/>
                </a:solidFill>
                <a:latin typeface="Lato"/>
                <a:ea typeface="Lato"/>
                <a:cs typeface="Lato"/>
                <a:sym typeface="Lato"/>
              </a:rPr>
              <a:t>       https://github.com/AbdallaEwida/Real-Time-Traffic-Analytics-Using-Azure-Stream-Analytics</a:t>
            </a:r>
            <a:endParaRPr sz="800" dirty="0"/>
          </a:p>
        </p:txBody>
      </p:sp>
      <p:pic>
        <p:nvPicPr>
          <p:cNvPr id="11" name="Google Shape;282;p22" descr="image.png">
            <a:extLst>
              <a:ext uri="{FF2B5EF4-FFF2-40B4-BE49-F238E27FC236}">
                <a16:creationId xmlns:a16="http://schemas.microsoft.com/office/drawing/2014/main" id="{5340142F-2BFE-703C-9672-2407CC52E77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0" y="4259609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283;p22" descr="image.png">
            <a:extLst>
              <a:ext uri="{FF2B5EF4-FFF2-40B4-BE49-F238E27FC236}">
                <a16:creationId xmlns:a16="http://schemas.microsoft.com/office/drawing/2014/main" id="{2835A85F-872F-71FC-AE98-2CF05014B68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77275" y="4827389"/>
            <a:ext cx="2190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23;p12">
            <a:extLst>
              <a:ext uri="{FF2B5EF4-FFF2-40B4-BE49-F238E27FC236}">
                <a16:creationId xmlns:a16="http://schemas.microsoft.com/office/drawing/2014/main" id="{B736D4DD-91E9-BBF6-95A5-C45B62417E7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</a:t>
            </a:r>
            <a:r>
              <a:rPr lang="ar-SA" dirty="0"/>
              <a:t>1</a:t>
            </a:r>
            <a:r>
              <a:rPr lang="en-US" dirty="0"/>
              <a:t> / </a:t>
            </a:r>
            <a:r>
              <a:rPr lang="ar-SA" dirty="0"/>
              <a:t>30</a:t>
            </a:r>
            <a:r>
              <a:rPr lang="en-US" dirty="0"/>
              <a:t> / 2</a:t>
            </a:r>
            <a:r>
              <a:rPr lang="ar-SA" dirty="0"/>
              <a:t>5</a:t>
            </a:r>
            <a:endParaRPr dirty="0"/>
          </a:p>
        </p:txBody>
      </p:sp>
      <p:pic>
        <p:nvPicPr>
          <p:cNvPr id="15" name="Google Shape;110;p1">
            <a:extLst>
              <a:ext uri="{FF2B5EF4-FFF2-40B4-BE49-F238E27FC236}">
                <a16:creationId xmlns:a16="http://schemas.microsoft.com/office/drawing/2014/main" id="{45C282FA-EA28-9FB2-598F-BFC65B00648F}"/>
              </a:ext>
            </a:extLst>
          </p:cNvPr>
          <p:cNvPicPr preferRelativeResize="0"/>
          <p:nvPr/>
        </p:nvPicPr>
        <p:blipFill>
          <a:blip r:embed="rId5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4543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632</Words>
  <Application>Microsoft Office PowerPoint</Application>
  <PresentationFormat>Widescreen</PresentationFormat>
  <Paragraphs>116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Poppins</vt:lpstr>
      <vt:lpstr>Arial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SAMA</dc:creator>
  <cp:lastModifiedBy>200035083-Abdalla Nasser Bekhit Abdalla Ewida</cp:lastModifiedBy>
  <cp:revision>10</cp:revision>
  <dcterms:created xsi:type="dcterms:W3CDTF">2024-03-14T10:03:54Z</dcterms:created>
  <dcterms:modified xsi:type="dcterms:W3CDTF">2025-11-30T15:29:24Z</dcterms:modified>
</cp:coreProperties>
</file>